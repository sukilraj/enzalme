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jpe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1d1ead3714d62" /><Relationship Type="http://schemas.openxmlformats.org/officeDocument/2006/relationships/extended-properties" Target="/docProps/app.xml" Id="Rbbf627f42be8429e" /><Relationship Type="http://schemas.openxmlformats.org/officeDocument/2006/relationships/officeDocument" Target="/ppt/presentation.xml" Id="R0782c6e0ed95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33fd71ae94c71"/>
  </p:sldMasterIdLst>
  <p:notesMasterIdLst>
    <p:notesMasterId xmlns:r="http://schemas.openxmlformats.org/officeDocument/2006/relationships" r:id="R2e5fce5e1b9b4af4"/>
  </p:notesMasterIdLst>
  <p:sldIdLst>
    <p:sldId xmlns:r="http://schemas.openxmlformats.org/officeDocument/2006/relationships" id="256" r:id="R957e0746975949fa"/>
    <p:sldId xmlns:r="http://schemas.openxmlformats.org/officeDocument/2006/relationships" id="257" r:id="R6e3e13bc46b34dc2"/>
    <p:sldId xmlns:r="http://schemas.openxmlformats.org/officeDocument/2006/relationships" id="258" r:id="Rdec6d124a34f4e58"/>
    <p:sldId xmlns:r="http://schemas.openxmlformats.org/officeDocument/2006/relationships" id="259" r:id="R78475bb98b094f6e"/>
    <p:sldId xmlns:r="http://schemas.openxmlformats.org/officeDocument/2006/relationships" id="260" r:id="R503811e055d64d68"/>
    <p:sldId xmlns:r="http://schemas.openxmlformats.org/officeDocument/2006/relationships" id="261" r:id="R36b0f233df50465e"/>
    <p:sldId xmlns:r="http://schemas.openxmlformats.org/officeDocument/2006/relationships" id="262" r:id="R5594369810e3454c"/>
    <p:sldId xmlns:r="http://schemas.openxmlformats.org/officeDocument/2006/relationships" id="263" r:id="R57d20023e5df4950"/>
    <p:sldId xmlns:r="http://schemas.openxmlformats.org/officeDocument/2006/relationships" id="264" r:id="Ra11fdbadc6d44cc1"/>
    <p:sldId xmlns:r="http://schemas.openxmlformats.org/officeDocument/2006/relationships" id="265" r:id="R143e53093d9041dc"/>
    <p:sldId xmlns:r="http://schemas.openxmlformats.org/officeDocument/2006/relationships" id="266" r:id="R9dac69fd8503480f"/>
    <p:sldId xmlns:r="http://schemas.openxmlformats.org/officeDocument/2006/relationships" id="267" r:id="Rc852d7e0709947c5"/>
    <p:sldId xmlns:r="http://schemas.openxmlformats.org/officeDocument/2006/relationships" id="268" r:id="R1328d31bbd454681"/>
    <p:sldId xmlns:r="http://schemas.openxmlformats.org/officeDocument/2006/relationships" id="269" r:id="R22a3fa13f63b4a55"/>
    <p:sldId xmlns:r="http://schemas.openxmlformats.org/officeDocument/2006/relationships" id="270" r:id="Ree7c79b1b0c14cee"/>
    <p:sldId xmlns:r="http://schemas.openxmlformats.org/officeDocument/2006/relationships" id="271" r:id="R74e251f407674c02"/>
    <p:sldId xmlns:r="http://schemas.openxmlformats.org/officeDocument/2006/relationships" id="272" r:id="Rd9e819200b3c499b"/>
    <p:sldId xmlns:r="http://schemas.openxmlformats.org/officeDocument/2006/relationships" id="273" r:id="Re1c624d08c7f4be1"/>
    <p:sldId xmlns:r="http://schemas.openxmlformats.org/officeDocument/2006/relationships" id="274" r:id="R0575eff8d9c74190"/>
    <p:sldId xmlns:r="http://schemas.openxmlformats.org/officeDocument/2006/relationships" id="275" r:id="Rb2a3c84d12b4433a"/>
    <p:sldId xmlns:r="http://schemas.openxmlformats.org/officeDocument/2006/relationships" id="276" r:id="R2763b0471c6847f0"/>
    <p:sldId xmlns:r="http://schemas.openxmlformats.org/officeDocument/2006/relationships" id="277" r:id="Rb033687acfb1456f"/>
    <p:sldId xmlns:r="http://schemas.openxmlformats.org/officeDocument/2006/relationships" id="278" r:id="R749448d64b8d4c48"/>
    <p:sldId xmlns:r="http://schemas.openxmlformats.org/officeDocument/2006/relationships" id="279" r:id="R4ac5dad64ea34564"/>
    <p:sldId xmlns:r="http://schemas.openxmlformats.org/officeDocument/2006/relationships" id="280" r:id="R4a62dfc0ae0e4ce4"/>
    <p:sldId xmlns:r="http://schemas.openxmlformats.org/officeDocument/2006/relationships" id="281" r:id="Rb02e49443b20462b"/>
    <p:sldId xmlns:r="http://schemas.openxmlformats.org/officeDocument/2006/relationships" id="282" r:id="R1ec36ad3eb1b4716"/>
    <p:sldId xmlns:r="http://schemas.openxmlformats.org/officeDocument/2006/relationships" id="283" r:id="Rf9789a045a784b3c"/>
    <p:sldId xmlns:r="http://schemas.openxmlformats.org/officeDocument/2006/relationships" id="284" r:id="R547a9671ffd74b89"/>
    <p:sldId xmlns:r="http://schemas.openxmlformats.org/officeDocument/2006/relationships" id="285" r:id="R9910cccf301143cd"/>
    <p:sldId xmlns:r="http://schemas.openxmlformats.org/officeDocument/2006/relationships" id="286" r:id="R987539e404ce4af0"/>
    <p:sldId xmlns:r="http://schemas.openxmlformats.org/officeDocument/2006/relationships" id="287" r:id="Rb39e86678023423d"/>
    <p:sldId xmlns:r="http://schemas.openxmlformats.org/officeDocument/2006/relationships" id="288" r:id="Rd6d94fb2fd374f61"/>
    <p:sldId xmlns:r="http://schemas.openxmlformats.org/officeDocument/2006/relationships" id="289" r:id="R7ddc563e480d4a7a"/>
    <p:sldId xmlns:r="http://schemas.openxmlformats.org/officeDocument/2006/relationships" id="290" r:id="Re44e0428b83540d3"/>
    <p:sldId xmlns:r="http://schemas.openxmlformats.org/officeDocument/2006/relationships" id="291" r:id="R8ec0ffe4e2d847cd"/>
    <p:sldId xmlns:r="http://schemas.openxmlformats.org/officeDocument/2006/relationships" id="292" r:id="R7b0e0c68c9344258"/>
    <p:sldId xmlns:r="http://schemas.openxmlformats.org/officeDocument/2006/relationships" id="293" r:id="R3aff9de2738a47a6"/>
    <p:sldId xmlns:r="http://schemas.openxmlformats.org/officeDocument/2006/relationships" id="294" r:id="R18d5c91bf0ba4d3b"/>
    <p:sldId xmlns:r="http://schemas.openxmlformats.org/officeDocument/2006/relationships" id="295" r:id="R85d50d3a739042f5"/>
    <p:sldId xmlns:r="http://schemas.openxmlformats.org/officeDocument/2006/relationships" id="296" r:id="R2a38000c05194785"/>
    <p:sldId xmlns:r="http://schemas.openxmlformats.org/officeDocument/2006/relationships" id="297" r:id="R6d47a26e6a974ac4"/>
    <p:sldId xmlns:r="http://schemas.openxmlformats.org/officeDocument/2006/relationships" id="298" r:id="R88faf545484d4b89"/>
    <p:sldId xmlns:r="http://schemas.openxmlformats.org/officeDocument/2006/relationships" id="299" r:id="Rc9b373bd70b148d8"/>
    <p:sldId xmlns:r="http://schemas.openxmlformats.org/officeDocument/2006/relationships" id="300" r:id="Rc109e9db8fcc46a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571b82d6f4788" /><Relationship Type="http://schemas.openxmlformats.org/officeDocument/2006/relationships/slideMaster" Target="/ppt/slideMasters/slideMaster1.xml" Id="R26a33fd71ae94c71" /><Relationship Type="http://schemas.openxmlformats.org/officeDocument/2006/relationships/notesMaster" Target="/ppt/notesMasters/notesMaster1.xml" Id="R2e5fce5e1b9b4af4" /><Relationship Type="http://schemas.openxmlformats.org/officeDocument/2006/relationships/presProps" Target="/ppt/presProps.xml" Id="R4253e2b5947c405f" /><Relationship Type="http://schemas.openxmlformats.org/officeDocument/2006/relationships/tableStyles" Target="/ppt/tableStyles.xml" Id="Rf761bd03d58d42e8" /><Relationship Type="http://schemas.openxmlformats.org/officeDocument/2006/relationships/slide" Target="/ppt/slides/slide1.xml" Id="R957e0746975949fa" /><Relationship Type="http://schemas.openxmlformats.org/officeDocument/2006/relationships/slide" Target="/ppt/slides/slide2.xml" Id="R6e3e13bc46b34dc2" /><Relationship Type="http://schemas.openxmlformats.org/officeDocument/2006/relationships/slide" Target="/ppt/slides/slide3.xml" Id="Rdec6d124a34f4e58" /><Relationship Type="http://schemas.openxmlformats.org/officeDocument/2006/relationships/slide" Target="/ppt/slides/slide4.xml" Id="R78475bb98b094f6e" /><Relationship Type="http://schemas.openxmlformats.org/officeDocument/2006/relationships/slide" Target="/ppt/slides/slide5.xml" Id="R503811e055d64d68" /><Relationship Type="http://schemas.openxmlformats.org/officeDocument/2006/relationships/slide" Target="/ppt/slides/slide6.xml" Id="R36b0f233df50465e" /><Relationship Type="http://schemas.openxmlformats.org/officeDocument/2006/relationships/slide" Target="/ppt/slides/slide7.xml" Id="R5594369810e3454c" /><Relationship Type="http://schemas.openxmlformats.org/officeDocument/2006/relationships/slide" Target="/ppt/slides/slide8.xml" Id="R57d20023e5df4950" /><Relationship Type="http://schemas.openxmlformats.org/officeDocument/2006/relationships/slide" Target="/ppt/slides/slide9.xml" Id="Ra11fdbadc6d44cc1" /><Relationship Type="http://schemas.openxmlformats.org/officeDocument/2006/relationships/slide" Target="/ppt/slides/slide10.xml" Id="R143e53093d9041dc" /><Relationship Type="http://schemas.openxmlformats.org/officeDocument/2006/relationships/slide" Target="/ppt/slides/slide11.xml" Id="R9dac69fd8503480f" /><Relationship Type="http://schemas.openxmlformats.org/officeDocument/2006/relationships/slide" Target="/ppt/slides/slide12.xml" Id="Rc852d7e0709947c5" /><Relationship Type="http://schemas.openxmlformats.org/officeDocument/2006/relationships/slide" Target="/ppt/slides/slide13.xml" Id="R1328d31bbd454681" /><Relationship Type="http://schemas.openxmlformats.org/officeDocument/2006/relationships/slide" Target="/ppt/slides/slide14.xml" Id="R22a3fa13f63b4a55" /><Relationship Type="http://schemas.openxmlformats.org/officeDocument/2006/relationships/slide" Target="/ppt/slides/slide15.xml" Id="Ree7c79b1b0c14cee" /><Relationship Type="http://schemas.openxmlformats.org/officeDocument/2006/relationships/slide" Target="/ppt/slides/slide16.xml" Id="R74e251f407674c02" /><Relationship Type="http://schemas.openxmlformats.org/officeDocument/2006/relationships/slide" Target="/ppt/slides/slide17.xml" Id="Rd9e819200b3c499b" /><Relationship Type="http://schemas.openxmlformats.org/officeDocument/2006/relationships/slide" Target="/ppt/slides/slide18.xml" Id="Re1c624d08c7f4be1" /><Relationship Type="http://schemas.openxmlformats.org/officeDocument/2006/relationships/slide" Target="/ppt/slides/slide19.xml" Id="R0575eff8d9c74190" /><Relationship Type="http://schemas.openxmlformats.org/officeDocument/2006/relationships/slide" Target="/ppt/slides/slide20.xml" Id="Rb2a3c84d12b4433a" /><Relationship Type="http://schemas.openxmlformats.org/officeDocument/2006/relationships/slide" Target="/ppt/slides/slide21.xml" Id="R2763b0471c6847f0" /><Relationship Type="http://schemas.openxmlformats.org/officeDocument/2006/relationships/slide" Target="/ppt/slides/slide22.xml" Id="Rb033687acfb1456f" /><Relationship Type="http://schemas.openxmlformats.org/officeDocument/2006/relationships/slide" Target="/ppt/slides/slide23.xml" Id="R749448d64b8d4c48" /><Relationship Type="http://schemas.openxmlformats.org/officeDocument/2006/relationships/slide" Target="/ppt/slides/slide24.xml" Id="R4ac5dad64ea34564" /><Relationship Type="http://schemas.openxmlformats.org/officeDocument/2006/relationships/slide" Target="/ppt/slides/slide25.xml" Id="R4a62dfc0ae0e4ce4" /><Relationship Type="http://schemas.openxmlformats.org/officeDocument/2006/relationships/slide" Target="/ppt/slides/slide26.xml" Id="Rb02e49443b20462b" /><Relationship Type="http://schemas.openxmlformats.org/officeDocument/2006/relationships/slide" Target="/ppt/slides/slide27.xml" Id="R1ec36ad3eb1b4716" /><Relationship Type="http://schemas.openxmlformats.org/officeDocument/2006/relationships/slide" Target="/ppt/slides/slide28.xml" Id="Rf9789a045a784b3c" /><Relationship Type="http://schemas.openxmlformats.org/officeDocument/2006/relationships/slide" Target="/ppt/slides/slide29.xml" Id="R547a9671ffd74b89" /><Relationship Type="http://schemas.openxmlformats.org/officeDocument/2006/relationships/slide" Target="/ppt/slides/slide30.xml" Id="R9910cccf301143cd" /><Relationship Type="http://schemas.openxmlformats.org/officeDocument/2006/relationships/slide" Target="/ppt/slides/slide31.xml" Id="R987539e404ce4af0" /><Relationship Type="http://schemas.openxmlformats.org/officeDocument/2006/relationships/slide" Target="/ppt/slides/slide32.xml" Id="Rb39e86678023423d" /><Relationship Type="http://schemas.openxmlformats.org/officeDocument/2006/relationships/slide" Target="/ppt/slides/slide33.xml" Id="Rd6d94fb2fd374f61" /><Relationship Type="http://schemas.openxmlformats.org/officeDocument/2006/relationships/slide" Target="/ppt/slides/slide34.xml" Id="R7ddc563e480d4a7a" /><Relationship Type="http://schemas.openxmlformats.org/officeDocument/2006/relationships/slide" Target="/ppt/slides/slide35.xml" Id="Re44e0428b83540d3" /><Relationship Type="http://schemas.openxmlformats.org/officeDocument/2006/relationships/slide" Target="/ppt/slides/slide36.xml" Id="R8ec0ffe4e2d847cd" /><Relationship Type="http://schemas.openxmlformats.org/officeDocument/2006/relationships/slide" Target="/ppt/slides/slide37.xml" Id="R7b0e0c68c9344258" /><Relationship Type="http://schemas.openxmlformats.org/officeDocument/2006/relationships/slide" Target="/ppt/slides/slide38.xml" Id="R3aff9de2738a47a6" /><Relationship Type="http://schemas.openxmlformats.org/officeDocument/2006/relationships/slide" Target="/ppt/slides/slide39.xml" Id="R18d5c91bf0ba4d3b" /><Relationship Type="http://schemas.openxmlformats.org/officeDocument/2006/relationships/slide" Target="/ppt/slides/slide40.xml" Id="R85d50d3a739042f5" /><Relationship Type="http://schemas.openxmlformats.org/officeDocument/2006/relationships/slide" Target="/ppt/slides/slide41.xml" Id="R2a38000c05194785" /><Relationship Type="http://schemas.openxmlformats.org/officeDocument/2006/relationships/slide" Target="/ppt/slides/slide42.xml" Id="R6d47a26e6a974ac4" /><Relationship Type="http://schemas.openxmlformats.org/officeDocument/2006/relationships/slide" Target="/ppt/slides/slide43.xml" Id="R88faf545484d4b89" /><Relationship Type="http://schemas.openxmlformats.org/officeDocument/2006/relationships/slide" Target="/ppt/slides/slide44.xml" Id="Rc9b373bd70b148d8" /><Relationship Type="http://schemas.openxmlformats.org/officeDocument/2006/relationships/slide" Target="/ppt/slides/slide45.xml" Id="Rc109e9db8fcc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d01ba420a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8d67107a745dd" /><Relationship Type="http://schemas.openxmlformats.org/officeDocument/2006/relationships/notesMaster" Target="/ppt/notesMasters/notesMaster1.xml" Id="Rea42098d3c55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2346ed9824016" /><Relationship Type="http://schemas.openxmlformats.org/officeDocument/2006/relationships/notesMaster" Target="/ppt/notesMasters/notesMaster1.xml" Id="Re2bea3c13264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3eaacd24a453d" /><Relationship Type="http://schemas.openxmlformats.org/officeDocument/2006/relationships/notesMaster" Target="/ppt/notesMasters/notesMaster1.xml" Id="R1fef9327537d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ff507a0074286" /><Relationship Type="http://schemas.openxmlformats.org/officeDocument/2006/relationships/notesMaster" Target="/ppt/notesMasters/notesMaster1.xml" Id="R88ea032895f8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2072423d64097" /><Relationship Type="http://schemas.openxmlformats.org/officeDocument/2006/relationships/notesMaster" Target="/ppt/notesMasters/notesMaster1.xml" Id="R64ec038cc999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cf67678024671" /><Relationship Type="http://schemas.openxmlformats.org/officeDocument/2006/relationships/notesMaster" Target="/ppt/notesMasters/notesMaster1.xml" Id="R50b77a213799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81fd6519c4347" /><Relationship Type="http://schemas.openxmlformats.org/officeDocument/2006/relationships/notesMaster" Target="/ppt/notesMasters/notesMaster1.xml" Id="R5703e6898f18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4e06204de4a3f" /><Relationship Type="http://schemas.openxmlformats.org/officeDocument/2006/relationships/notesMaster" Target="/ppt/notesMasters/notesMaster1.xml" Id="R30165190b7e5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70821b07d24739" /><Relationship Type="http://schemas.openxmlformats.org/officeDocument/2006/relationships/notesMaster" Target="/ppt/notesMasters/notesMaster1.xml" Id="Rcef1fc9f7216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c6abf6d634104" /><Relationship Type="http://schemas.openxmlformats.org/officeDocument/2006/relationships/notesMaster" Target="/ppt/notesMasters/notesMaster1.xml" Id="Rfb0396941685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b79e7396242b7" /><Relationship Type="http://schemas.openxmlformats.org/officeDocument/2006/relationships/notesMaster" Target="/ppt/notesMasters/notesMaster1.xml" Id="R54d9987c673c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92a0761c74892" /><Relationship Type="http://schemas.openxmlformats.org/officeDocument/2006/relationships/notesMaster" Target="/ppt/notesMasters/notesMaster1.xml" Id="R6c7684254a2f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38b93baf6e464a" /><Relationship Type="http://schemas.openxmlformats.org/officeDocument/2006/relationships/notesMaster" Target="/ppt/notesMasters/notesMaster1.xml" Id="R9eda803723d946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b3973d1ace476b" /><Relationship Type="http://schemas.openxmlformats.org/officeDocument/2006/relationships/notesMaster" Target="/ppt/notesMasters/notesMaster1.xml" Id="R69b5882f8e5a42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1d8769be9e43a2" /><Relationship Type="http://schemas.openxmlformats.org/officeDocument/2006/relationships/notesMaster" Target="/ppt/notesMasters/notesMaster1.xml" Id="R6455e0473bc44c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1f8971ada942a3" /><Relationship Type="http://schemas.openxmlformats.org/officeDocument/2006/relationships/notesMaster" Target="/ppt/notesMasters/notesMaster1.xml" Id="Re2bb285c439241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b342f9eae64b74" /><Relationship Type="http://schemas.openxmlformats.org/officeDocument/2006/relationships/notesMaster" Target="/ppt/notesMasters/notesMaster1.xml" Id="R8aa03c559e444b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9ce346d8844115" /><Relationship Type="http://schemas.openxmlformats.org/officeDocument/2006/relationships/notesMaster" Target="/ppt/notesMasters/notesMaster1.xml" Id="R1ed2a197b9f947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6af9f95c6f4ca7" /><Relationship Type="http://schemas.openxmlformats.org/officeDocument/2006/relationships/notesMaster" Target="/ppt/notesMasters/notesMaster1.xml" Id="R55987ca5dd9344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e6117549664ddb" /><Relationship Type="http://schemas.openxmlformats.org/officeDocument/2006/relationships/notesMaster" Target="/ppt/notesMasters/notesMaster1.xml" Id="R31a74376da184f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88970bab6d4fd0" /><Relationship Type="http://schemas.openxmlformats.org/officeDocument/2006/relationships/notesMaster" Target="/ppt/notesMasters/notesMaster1.xml" Id="R3f8cc0e76ea841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cff12042bf459a" /><Relationship Type="http://schemas.openxmlformats.org/officeDocument/2006/relationships/notesMaster" Target="/ppt/notesMasters/notesMaster1.xml" Id="R02eb0e8b168b4f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301fe9f22b4054" /><Relationship Type="http://schemas.openxmlformats.org/officeDocument/2006/relationships/notesMaster" Target="/ppt/notesMasters/notesMaster1.xml" Id="R0a389f01578247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0977e350884245" /><Relationship Type="http://schemas.openxmlformats.org/officeDocument/2006/relationships/notesMaster" Target="/ppt/notesMasters/notesMaster1.xml" Id="R9cd4e9faf7f146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651a0ac5b745b7" /><Relationship Type="http://schemas.openxmlformats.org/officeDocument/2006/relationships/notesMaster" Target="/ppt/notesMasters/notesMaster1.xml" Id="R4a43fbe7b8d24e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cd6afc5bff4877" /><Relationship Type="http://schemas.openxmlformats.org/officeDocument/2006/relationships/notesMaster" Target="/ppt/notesMasters/notesMaster1.xml" Id="R58fdbdc244a04c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9c78535eebd44f4" /><Relationship Type="http://schemas.openxmlformats.org/officeDocument/2006/relationships/notesMaster" Target="/ppt/notesMasters/notesMaster1.xml" Id="Rc7eda74b22f24f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a7f691d4864617" /><Relationship Type="http://schemas.openxmlformats.org/officeDocument/2006/relationships/notesMaster" Target="/ppt/notesMasters/notesMaster1.xml" Id="Rd6c1ba9cb59847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bd8da3c6d34e93" /><Relationship Type="http://schemas.openxmlformats.org/officeDocument/2006/relationships/notesMaster" Target="/ppt/notesMasters/notesMaster1.xml" Id="R7685df30f2bc4a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4583386a174159" /><Relationship Type="http://schemas.openxmlformats.org/officeDocument/2006/relationships/notesMaster" Target="/ppt/notesMasters/notesMaster1.xml" Id="R8b3a07ca0f734a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936ae9d96b436e" /><Relationship Type="http://schemas.openxmlformats.org/officeDocument/2006/relationships/notesMaster" Target="/ppt/notesMasters/notesMaster1.xml" Id="Rf4f963be1ded4a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bbbf4f7d13490a" /><Relationship Type="http://schemas.openxmlformats.org/officeDocument/2006/relationships/notesMaster" Target="/ppt/notesMasters/notesMaster1.xml" Id="R62f82e2e610942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1197564b5844a0" /><Relationship Type="http://schemas.openxmlformats.org/officeDocument/2006/relationships/notesMaster" Target="/ppt/notesMasters/notesMaster1.xml" Id="R3f1843b7a70544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587bc082ca42b4" /><Relationship Type="http://schemas.openxmlformats.org/officeDocument/2006/relationships/notesMaster" Target="/ppt/notesMasters/notesMaster1.xml" Id="R86f7ac6f986e4c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334fec009340bc" /><Relationship Type="http://schemas.openxmlformats.org/officeDocument/2006/relationships/notesMaster" Target="/ppt/notesMasters/notesMaster1.xml" Id="R565341bd29d64cb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4eebe43e4b5411b" /><Relationship Type="http://schemas.openxmlformats.org/officeDocument/2006/relationships/notesMaster" Target="/ppt/notesMasters/notesMaster1.xml" Id="Red9a3956b1464c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66440b862a4606" /><Relationship Type="http://schemas.openxmlformats.org/officeDocument/2006/relationships/notesMaster" Target="/ppt/notesMasters/notesMaster1.xml" Id="R2531d4e6d07e4f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a19420e31f48a6" /><Relationship Type="http://schemas.openxmlformats.org/officeDocument/2006/relationships/notesMaster" Target="/ppt/notesMasters/notesMaster1.xml" Id="R057eaa7af16d4e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18d79feb3d4464" /><Relationship Type="http://schemas.openxmlformats.org/officeDocument/2006/relationships/notesMaster" Target="/ppt/notesMasters/notesMaster1.xml" Id="Rc3a85df8d08f44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593adade0e4d03" /><Relationship Type="http://schemas.openxmlformats.org/officeDocument/2006/relationships/notesMaster" Target="/ppt/notesMasters/notesMaster1.xml" Id="R838eebc3cbfa48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981f7adb954df9" /><Relationship Type="http://schemas.openxmlformats.org/officeDocument/2006/relationships/notesMaster" Target="/ppt/notesMasters/notesMaster1.xml" Id="R64bd87a0ae3048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d2bcd2c958458e" /><Relationship Type="http://schemas.openxmlformats.org/officeDocument/2006/relationships/notesMaster" Target="/ppt/notesMasters/notesMaster1.xml" Id="Rbfc732a8a96a43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92e91f48994410b" /><Relationship Type="http://schemas.openxmlformats.org/officeDocument/2006/relationships/notesMaster" Target="/ppt/notesMasters/notesMaster1.xml" Id="Rb537b6df071c41b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ae98d9093af4041" /><Relationship Type="http://schemas.openxmlformats.org/officeDocument/2006/relationships/notesMaster" Target="/ppt/notesMasters/notesMaster1.xml" Id="Rf5947eb75a334a6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2dceb47df2a46d1" /><Relationship Type="http://schemas.openxmlformats.org/officeDocument/2006/relationships/notesMaster" Target="/ppt/notesMasters/notesMaster1.xml" Id="R81323a640e5d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title slide and project brief</a:t>
            </a:r>
          </a:p>
          <a:p xmlns:a="http://schemas.openxmlformats.org/drawingml/2006/main">
            <a:r>
              <a:t>Final review. Preserve team and guide identities from the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2–7;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scripts/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https://github.com/HySonLab/Directed_Evolution; https://ieeexplore.ieee.org/document/10443319/</a:t>
            </a:r>
          </a:p>
          <a:p xmlns:a="http://schemas.openxmlformats.org/drawingml/2006/main">
            <a:r>
              <a:t>Hong title corrected to Artificial Intelligence. Bibliographic details retained from the source deck; full paper access was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https://doi.org/10.1126/science.ade2574; https://doi.org/10.1073/pnas.2016239118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reports/results/tpa_provenance_audit_summary.json; reports/results/fireprotdb_analysis.json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data/processed/tpa_pet_ml_confirmed.csv; reports/results/tpa_provenance_audit_summary.json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reports/results/tpa_confirmed_dataset_summary.json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reports/results/tpa_confirmed_dataset_summary.json; reports/results/tpa_ambiguous_review.md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reports/results/repeated_condition_variability.json;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reports/results/feature_eligibility_audit.csv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reports/results/research_feature_matrix_summary.json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scripts/run_controlled_ablation.py; backend/app/services/esm_encoder.py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data/embeddings/index.json; reports/results/research_feature_matrix_summary.json</a:t>
            </a:r>
          </a:p>
          <a:p xmlns:a="http://schemas.openxmlformats.org/drawingml/2006/main">
            <a:r>
              <a:t>Current implementation pools all attention-mask tokens, including special tokens; it truncates at 1024 tokens. Existing vectors reused, no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reports/results/controlled_ablation_results.csv; scripts/run_controlled_ablation.py</a:t>
            </a:r>
          </a:p>
          <a:p xmlns:a="http://schemas.openxmlformats.org/drawingml/2006/main">
            <a:r>
              <a:t>m_i is 1 for attended tokens. This corrects the brief’s residue-only pooling description to match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Ridge fits an intercept by default. The objective uses transformed training targets. log1p itself has no fitted parameters, but is applied within the fold training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Arithmetic means of fold metrics. B Spearman excludes undefined fold 1 and uses four defined folds; all other displayed means use five folds. These are not pooled OOF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Editable chart generated from actual CSV fold means. No synthetic metric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reports/results/ablation_error_analysis/actual_vs_predicted.png; reports/results/ablation_error_analysis/ablation_error_analysis_report.md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reports/results/ablation_error_analysis/targeted_audit/targeted_audit_report.md</a:t>
            </a:r>
          </a:p>
          <a:p xmlns:a="http://schemas.openxmlformats.org/drawingml/2006/main">
            <a:r>
              <a:t>The targeted report contains a conflicting B fold-1 constant value. That constant is omitted. Controlled metrics are taken directly from the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reports/results/model_comparison_results.json; reports/results/protein_balance_sensitivity.md; reports/results/repeated_condition_variability.json</a:t>
            </a:r>
          </a:p>
          <a:p xmlns:a="http://schemas.openxmlformats.org/drawingml/2006/main">
            <a:r>
              <a:t>These follow-up experiments differ from the fixed A/B/C ablation. No production model selection or deployment follows from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backend/app/api/routes.py; backend/app/services/; frontend/src/App.jsx;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models/model_config.json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reports/results/served_model_audit/live_api_prediction.json; reports/results/served_model_audit/prediction_comparison.json</a:t>
            </a:r>
          </a:p>
          <a:p xmlns:a="http://schemas.openxmlformats.org/drawingml/2006/main">
            <a:r>
              <a:t>Saved API output from the 2026-09-28 audit, not a newly run inference or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31</a:t>
            </a:r>
          </a:p>
          <a:p xmlns:a="http://schemas.openxmlformats.org/drawingml/2006/main">
            <a:r>
              <a:t>Historical prototype documentation. The formula is preserved for context, not claimed as the current learned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32; reports/results/fireprotdb_analysis.json</a:t>
            </a:r>
          </a:p>
          <a:p xmlns:a="http://schemas.openxmlformats.org/drawingml/2006/main">
            <a:r>
              <a:t>Current EnzAIme_ML routes do not expose a mutation endpoint. Historical implementation claims are not carried into the present ML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reports/results/; backend/app/; frontend/src/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backend/app/; frontend/src/; scripts/; tests/test_legacy_evidence_integration.py; reports/results/served_model_audit/README.md</a:t>
            </a:r>
          </a:p>
          <a:p xmlns:a="http://schemas.openxmlformats.org/drawingml/2006/main">
            <a:r>
              <a:t>No existing application tests were rerun for this presentation-only edit. The old 54-test assertion and clean-install claim are not supported for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proposed architecture and user brief</a:t>
            </a:r>
          </a:p>
          <a:p xmlns:a="http://schemas.openxmlformats.org/drawingml/2006/main">
            <a:r>
              <a:t>PROPOSED / FUTURE ARCHITECTURE. This diagram is a roadmap, not a claim that its modules are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14–22; https://github.com/HySonLab/Directed_Evolution</a:t>
            </a:r>
          </a:p>
          <a:p xmlns:a="http://schemas.openxmlformats.org/drawingml/2006/main">
            <a:r>
              <a:t>Proposal adapted from literature. No current EnzAIme condition-aware neural oracle has been established as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 updated against existing reports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repository artifacts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reports/results/ablation_error_analysis/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Bibliographic references and local project evidence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closing slide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87020b8484a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adea9f7fd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80b18f76046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8437c427643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86c8b955d46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98bdcc576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5C02D-22CD-4FFF-A9DF-06E42B17B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5AE318-EC6B-4AAA-8272-3217843C0D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9B9607-90D9-4002-9019-5DAB8AF4F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9A8F11-D1A3-4A71-9348-8209E16BE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EF1CF5-E600-444C-A0B1-221DD5B9F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384C1-DED6-4216-985F-73BB58194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DBFEB-C0F1-459F-850E-6F66AA7F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C6CD2C-DB15-4DEE-A41D-60BCE1AA8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EAA73-A7A3-4F85-AC90-F03C00DEF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881FD-56CD-4F95-BA56-7855E41E5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621ba700f506441d"/><Relationship Type="http://schemas.openxmlformats.org/officeDocument/2006/relationships/slideLayout" Target="/ppt/slideLayouts/slideLayout1.xml" Id="R122e13633ee34669"/><Relationship Type="http://schemas.openxmlformats.org/officeDocument/2006/relationships/slideLayout" Target="/ppt/slideLayouts/slideLayout2.xml" Id="R94e371f149e84471"/><Relationship Type="http://schemas.openxmlformats.org/officeDocument/2006/relationships/slideLayout" Target="/ppt/slideLayouts/slideLayout3.xml" Id="R03349ba95c0348b5"/><Relationship Type="http://schemas.openxmlformats.org/officeDocument/2006/relationships/slideLayout" Target="/ppt/slideLayouts/slideLayout4.xml" Id="R9f8b5673115a4aff"/><Relationship Type="http://schemas.openxmlformats.org/officeDocument/2006/relationships/slideLayout" Target="/ppt/slideLayouts/slideLayout5.xml" Id="R772fa5816e0f4e45"/><Relationship Type="http://schemas.openxmlformats.org/officeDocument/2006/relationships/slideLayout" Target="/ppt/slideLayouts/slideLayout6.xml" Id="R32e443d269f543d2"/><Relationship Id="rIdSourceTemplate" Type="http://schemas.openxmlformats.org/officeDocument/2006/relationships/image" Target="../media/source_college_template.jpeg"/></Relationships>
</file>

<file path=ppt/slideMasters/slideMaster1.xml><?xml version="1.0" encoding="utf-8"?>
<p:sldMaster xmlns:p="http://schemas.openxmlformats.org/presentationml/2006/main">
  <p:cSld name="Master">
    <p:bg xmlns:a="http://schemas.openxmlformats.org/drawingml/2006/main" xmlns:r="http://schemas.openxmlformats.org/officeDocument/2006/relationships">
      <p:bgPr>
        <a:blipFill rotWithShape="1">
          <a:blip r:embed="rIdSourceTemplat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00" name="Text Box 10"/>
          <p:cNvSpPr txBox="1"/>
          <p:nvPr/>
        </p:nvSpPr>
        <p:spPr>
          <a:xfrm>
            <a:off x="914400" y="6324479"/>
            <a:ext cx="2809082" cy="28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spAutoFit/>
          </a:bodyPr>
          <a:lstStyle>
            <a:lvl1pPr indent="457200"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1" spc="-1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0" indent="0">
              <a:buNone/>
            </a:pPr>
            <a:r>
              <a:t>October 1, 2026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e13633ee34669"/>
    <p:sldLayoutId xmlns:r="http://schemas.openxmlformats.org/officeDocument/2006/relationships" id="2147483650" r:id="R94e371f149e84471"/>
    <p:sldLayoutId xmlns:r="http://schemas.openxmlformats.org/officeDocument/2006/relationships" id="2147483651" r:id="R03349ba95c0348b5"/>
    <p:sldLayoutId xmlns:r="http://schemas.openxmlformats.org/officeDocument/2006/relationships" id="2147483652" r:id="R9f8b5673115a4aff"/>
    <p:sldLayoutId xmlns:r="http://schemas.openxmlformats.org/officeDocument/2006/relationships" id="2147483653" r:id="R772fa5816e0f4e45"/>
    <p:sldLayoutId xmlns:r="http://schemas.openxmlformats.org/officeDocument/2006/relationships" id="2147483654" r:id="R32e443d269f5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0ddde13694647" /><Relationship Type="http://schemas.openxmlformats.org/officeDocument/2006/relationships/notesSlide" Target="/ppt/notesSlides/notesSlide1.xml" Id="R0edb22c3c193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f7c94b9ba4814" /><Relationship Type="http://schemas.openxmlformats.org/officeDocument/2006/relationships/notesSlide" Target="/ppt/notesSlides/notesSlide2.xml" Id="R6ae4284da7bc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61b0a5e804965" /><Relationship Type="http://schemas.openxmlformats.org/officeDocument/2006/relationships/notesSlide" Target="/ppt/notesSlides/notesSlide3.xml" Id="Rfeef759845a2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b8542f8234abd" /><Relationship Type="http://schemas.openxmlformats.org/officeDocument/2006/relationships/notesSlide" Target="/ppt/notesSlides/notesSlide4.xml" Id="R136bdaa80b05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148ad505d4e02" /><Relationship Type="http://schemas.openxmlformats.org/officeDocument/2006/relationships/notesSlide" Target="/ppt/notesSlides/notesSlide5.xml" Id="R73aa5997d2d7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fe9a6d61e483c" /><Relationship Type="http://schemas.openxmlformats.org/officeDocument/2006/relationships/notesSlide" Target="/ppt/notesSlides/notesSlide6.xml" Id="R6157fd7bbe194e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976b4c64d42c5" /><Relationship Type="http://schemas.openxmlformats.org/officeDocument/2006/relationships/notesSlide" Target="/ppt/notesSlides/notesSlide7.xml" Id="R7b379600d4a040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6ef5fab4d45ac" /><Relationship Type="http://schemas.openxmlformats.org/officeDocument/2006/relationships/notesSlide" Target="/ppt/notesSlides/notesSlide8.xml" Id="R319c3a98b5704a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c9f88ad3643fb" /><Relationship Type="http://schemas.openxmlformats.org/officeDocument/2006/relationships/notesSlide" Target="/ppt/notesSlides/notesSlide9.xml" Id="R0dd9497e090449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a6284387f4f07" /><Relationship Type="http://schemas.openxmlformats.org/officeDocument/2006/relationships/notesSlide" Target="/ppt/notesSlides/notesSlide10.xml" Id="R7ba9d21d8377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6e38c64104885" /><Relationship Type="http://schemas.openxmlformats.org/officeDocument/2006/relationships/notesSlide" Target="/ppt/notesSlides/notesSlide11.xml" Id="R47ad086ca3a843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e98b068254ef6" /><Relationship Type="http://schemas.openxmlformats.org/officeDocument/2006/relationships/notesSlide" Target="/ppt/notesSlides/notesSlide12.xml" Id="R4d69d005ed7a43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73cce263d464e" /><Relationship Type="http://schemas.openxmlformats.org/officeDocument/2006/relationships/notesSlide" Target="/ppt/notesSlides/notesSlide13.xml" Id="R76a3d07b50044f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d655b75c34663" /><Relationship Type="http://schemas.openxmlformats.org/officeDocument/2006/relationships/notesSlide" Target="/ppt/notesSlides/notesSlide14.xml" Id="R020e38dead4d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38492c5414f87" /><Relationship Type="http://schemas.openxmlformats.org/officeDocument/2006/relationships/notesSlide" Target="/ppt/notesSlides/notesSlide15.xml" Id="R25ce9044148e4f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e396328df4c39" /><Relationship Type="http://schemas.openxmlformats.org/officeDocument/2006/relationships/notesSlide" Target="/ppt/notesSlides/notesSlide16.xml" Id="R2d533f49579b4f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e16bfadc8403f" /><Relationship Type="http://schemas.openxmlformats.org/officeDocument/2006/relationships/notesSlide" Target="/ppt/notesSlides/notesSlide17.xml" Id="R069cdff7633645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605424f844196" /><Relationship Type="http://schemas.openxmlformats.org/officeDocument/2006/relationships/notesSlide" Target="/ppt/notesSlides/notesSlide18.xml" Id="Ra910b3b6b8ee48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ada986d5a484b" /><Relationship Type="http://schemas.openxmlformats.org/officeDocument/2006/relationships/notesSlide" Target="/ppt/notesSlides/notesSlide19.xml" Id="Red4ae51306b540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9283d40fc432b" /><Relationship Type="http://schemas.openxmlformats.org/officeDocument/2006/relationships/notesSlide" Target="/ppt/notesSlides/notesSlide20.xml" Id="Rad9a6000f22b47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c4cef5d4e4cca" /><Relationship Type="http://schemas.openxmlformats.org/officeDocument/2006/relationships/notesSlide" Target="/ppt/notesSlides/notesSlide21.xml" Id="R71fcc44cf0c54f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b6f4c570b479a" /><Relationship Type="http://schemas.openxmlformats.org/officeDocument/2006/relationships/notesSlide" Target="/ppt/notesSlides/notesSlide22.xml" Id="Re5d36b7d394c4b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24a32aaa74465" /><Relationship Type="http://schemas.openxmlformats.org/officeDocument/2006/relationships/chart" Target="/ppt/slides/charts/chart1.xml" Id="R395f5d8ce8dc4918" /><Relationship Type="http://schemas.openxmlformats.org/officeDocument/2006/relationships/notesSlide" Target="/ppt/notesSlides/notesSlide23.xml" Id="R61a595337fe640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fc4b0c47345c6" /><Relationship Type="http://schemas.openxmlformats.org/officeDocument/2006/relationships/notesSlide" Target="/ppt/notesSlides/notesSlide24.xml" Id="Re0ae920911e84c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58c7cd0474adf" /><Relationship Type="http://schemas.openxmlformats.org/officeDocument/2006/relationships/image" Target="/ppt/media/image.png" Id="R8639b5c6701f4866" /><Relationship Type="http://schemas.openxmlformats.org/officeDocument/2006/relationships/notesSlide" Target="/ppt/notesSlides/notesSlide25.xml" Id="Rf6ec5473107e4a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8594c228d410a" /><Relationship Type="http://schemas.openxmlformats.org/officeDocument/2006/relationships/notesSlide" Target="/ppt/notesSlides/notesSlide26.xml" Id="R93d0302d114843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59b0255b54a2a" /><Relationship Type="http://schemas.openxmlformats.org/officeDocument/2006/relationships/notesSlide" Target="/ppt/notesSlides/notesSlide27.xml" Id="Re8f202432ff84c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f323f18f84b21" /><Relationship Type="http://schemas.openxmlformats.org/officeDocument/2006/relationships/notesSlide" Target="/ppt/notesSlides/notesSlide28.xml" Id="R3c81bcef2d734d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c63836b394325" /><Relationship Type="http://schemas.openxmlformats.org/officeDocument/2006/relationships/notesSlide" Target="/ppt/notesSlides/notesSlide29.xml" Id="R4054ee2f890549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46cd035b4c30" /><Relationship Type="http://schemas.openxmlformats.org/officeDocument/2006/relationships/notesSlide" Target="/ppt/notesSlides/notesSlide30.xml" Id="R13df0924a9e345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ab344320c4860" /><Relationship Type="http://schemas.openxmlformats.org/officeDocument/2006/relationships/image" Target="/ppt/media/image2.png" Id="R8a4749dc878246ab" /><Relationship Type="http://schemas.openxmlformats.org/officeDocument/2006/relationships/notesSlide" Target="/ppt/notesSlides/notesSlide31.xml" Id="Ra6b4ffa551b448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94bf2b8c24a33" /><Relationship Type="http://schemas.openxmlformats.org/officeDocument/2006/relationships/image" Target="/ppt/media/image3.png" Id="Ra704bbed5b08409a" /><Relationship Type="http://schemas.openxmlformats.org/officeDocument/2006/relationships/notesSlide" Target="/ppt/notesSlides/notesSlide32.xml" Id="Rf9bb4fa353d047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e1ff7543543f2" /><Relationship Type="http://schemas.openxmlformats.org/officeDocument/2006/relationships/image" Target="/ppt/media/image4.png" Id="Rffd22afb8afc40ad" /><Relationship Type="http://schemas.openxmlformats.org/officeDocument/2006/relationships/notesSlide" Target="/ppt/notesSlides/notesSlide33.xml" Id="Rbf96e03d80ec48b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28b76d7794596" /><Relationship Type="http://schemas.openxmlformats.org/officeDocument/2006/relationships/notesSlide" Target="/ppt/notesSlides/notesSlide34.xml" Id="R419d3ed5778c45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bfb65b04c43d1" /><Relationship Type="http://schemas.openxmlformats.org/officeDocument/2006/relationships/notesSlide" Target="/ppt/notesSlides/notesSlide35.xml" Id="Ra7d17af426d14e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8cab2d04f4874" /><Relationship Type="http://schemas.openxmlformats.org/officeDocument/2006/relationships/notesSlide" Target="/ppt/notesSlides/notesSlide36.xml" Id="Re5a95ca156af4a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91c25dbdf47d5" /><Relationship Type="http://schemas.openxmlformats.org/officeDocument/2006/relationships/notesSlide" Target="/ppt/notesSlides/notesSlide37.xml" Id="R2bf7b598a46d46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da3e0fadd41ca" /><Relationship Type="http://schemas.openxmlformats.org/officeDocument/2006/relationships/notesSlide" Target="/ppt/notesSlides/notesSlide38.xml" Id="R0df2b409931643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b85802bfe4efe" /><Relationship Type="http://schemas.openxmlformats.org/officeDocument/2006/relationships/notesSlide" Target="/ppt/notesSlides/notesSlide39.xml" Id="R314abeba6fea4f0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49e4aa848480e" /><Relationship Type="http://schemas.openxmlformats.org/officeDocument/2006/relationships/notesSlide" Target="/ppt/notesSlides/notesSlide40.xml" Id="R1ae51014d33f49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d19d6e2f6429b" /><Relationship Type="http://schemas.openxmlformats.org/officeDocument/2006/relationships/notesSlide" Target="/ppt/notesSlides/notesSlide41.xml" Id="Rfd3644351817411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1ce13e00344b3" /><Relationship Type="http://schemas.openxmlformats.org/officeDocument/2006/relationships/notesSlide" Target="/ppt/notesSlides/notesSlide42.xml" Id="R9dffbdd4550a4e1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3683d4d749c9" /><Relationship Type="http://schemas.openxmlformats.org/officeDocument/2006/relationships/notesSlide" Target="/ppt/notesSlides/notesSlide43.xml" Id="Rec171a3f629a439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2e4dc90cf43f1" /><Relationship Type="http://schemas.openxmlformats.org/officeDocument/2006/relationships/notesSlide" Target="/ppt/notesSlides/notesSlide44.xml" Id="Rb4cbf85831e145b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b92b9901646d1" /><Relationship Type="http://schemas.openxmlformats.org/officeDocument/2006/relationships/notesSlide" Target="/ppt/notesSlides/notesSlide45.xml" Id="R354b1262ae3c4f7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92725F"/>
            </a:solidFill>
          </c:spPr>
          <c:cat>
            <c:strLit>
              <c:ptCount val="3"/>
              <c:pt idx="0">
                <c:v>A Environment</c:v>
              </c:pt>
              <c:pt idx="1">
                <c:v>B ESM-2</c:v>
              </c:pt>
              <c:pt idx="2">
                <c:v>C Combined</c:v>
              </c:pt>
            </c:strLit>
          </c:cat>
          <c:val>
            <c:numLit>
              <c:formatCode>0</c:formatCode>
              <c:ptCount val="3"/>
              <c:pt idx="0">
                <c:v>1423.11</c:v>
              </c:pt>
              <c:pt idx="1">
                <c:v>1918.29</c:v>
              </c:pt>
              <c:pt idx="2">
                <c:v>1592.12</c:v>
              </c:pt>
            </c:numLit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344E54"/>
            </a:solidFill>
          </c:spPr>
          <c:cat>
            <c:strLit>
              <c:ptCount val="3"/>
              <c:pt idx="0">
                <c:v>A Environment</c:v>
              </c:pt>
              <c:pt idx="1">
                <c:v>B ESM-2</c:v>
              </c:pt>
              <c:pt idx="2">
                <c:v>C Combined</c:v>
              </c:pt>
            </c:strLit>
          </c:cat>
          <c:val>
            <c:numLit>
              <c:formatCode>0</c:formatCode>
              <c:ptCount val="3"/>
              <c:pt idx="0">
                <c:v>3200.77</c:v>
              </c:pt>
              <c:pt idx="1">
                <c:v>3943.42</c:v>
              </c:pt>
              <c:pt idx="2">
                <c:v>3452.48</c:v>
              </c:pt>
            </c:numLit>
          </c:val>
        </c:ser>
        <c:dLbls>
          <c:numFmt formatCode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Error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9F1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0E782-EB1A-4264-8858-2EC5CB0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2AD7-999B-4BEC-8FB4-DC2E66C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FF0B-6D9A-4CC9-A736-845755E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9CE32-4C69-4A63-8F31-A2FFF26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7372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Environment-Aware AI Platform for Enzyme Recommendation and Optimization for Industrial Waste Biodegradation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A8E14-CDB9-49EF-AB2C-2258AE4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Current research: TPA/PET activity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F6CF-C707-4DF6-ACC0-E26EDA21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712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MEMBERS:  Ramkumar R   ·   Sukil Raj M S</a:t>
            </a:r>
          </a:p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GUIDE:  Mr. G. Kirubakaran B.E., M.E.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EBFA8-61F8-478E-8776-E18BF27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12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Department of Artificial Intelligence and Data Science</a:t>
            </a:r>
          </a:p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Mepco Schlenk Engineering College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C7F9F-2F62-4BE7-9992-536815C7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Final-year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6312500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9B7B5-BD8F-4A61-9E36-C37020D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Motivation and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5970-F61C-43F3-8D6A-44ED099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AFC95-7F9F-45BF-8F0C-B8849F8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08D4D-63F3-4D07-B652-5FA8E14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37062-4A39-40E0-A72E-BDB223E9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original proposal addresses enzyme selection under industrial wastewater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D76E7-8A34-4271-B0EA-C12CB1B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489E-9DFC-490A-ABFF-43FB1B9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research focuses on PET degradation assays with recorded TPA concentrations.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39206-6427-4D06-A55F-2E10FB2D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9A89F-FADE-4A7B-A1E2-8997294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 and reaction duration describe the available assay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8AE5-2CBD-4374-B9B0-E2B6EE4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20FB2-6F51-4849-85E7-368A00E2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Dyes, PU, phenolics and other waste streams remain expansion targets.</a:t>
            </a:r>
          </a:p>
        </p:txBody>
      </p:sp>
    </p:spTree>
    <p:extLst>
      <p:ext uri="{BB962C8B-B14F-4D97-AF65-F5344CB8AC3E}">
        <p14:creationId xmlns:p14="http://schemas.microsoft.com/office/powerpoint/2010/main" val="690786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953C9-67C3-4505-9558-2926703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Aim and 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E172E-8C31-4EBB-B3F9-A37959B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2CBB-5F3A-448C-90C7-5B83860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5309B-C087-400F-A400-9FDB0DC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91F98-DF3C-41C7-A23B-E7C09DF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Build a traceable dataset linking protein sequences, assay conditions and measured TPA.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1D07-D149-4A0D-9817-9C4BB62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40E9-918C-447A-AEC6-6C42A20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Compare environmental features with frozen ESM-2 protein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67995-A7F1-4D97-A595-714375F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0272-81B4-4BF8-BD25-4643D796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Evaluate generalization to held-out proteins using grouped cross-validation.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F8294-7B56-40F3-997E-DEF8D7D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DFE44-F242-495C-85FA-34B8361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Support a recommendation prototype and identify the evidence needed for future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630915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4D-FC57-44DF-A159-681D244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work and long-term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40967-75BB-464D-BB37-A6E67CA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B957-C11B-47FF-8BAE-E41B3E5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91692-9772-411B-A137-BB6CE15DFB08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429250"/>
              </a:tblGrid>
              <a:tr h="670322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records, 25 proteins, frozen ESM-2, controlled Ridge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Application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React/Vite and FastAPI using a separate legacy model artifact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fitness oracle, mutation design, 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DF77-92DC-4A3F-8BC8-4734BCB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confirmed research experiment does not validate the separately served legacy model.</a:t>
            </a:r>
          </a:p>
        </p:txBody>
      </p:sp>
    </p:spTree>
    <p:extLst>
      <p:ext uri="{BB962C8B-B14F-4D97-AF65-F5344CB8AC3E}">
        <p14:creationId xmlns:p14="http://schemas.microsoft.com/office/powerpoint/2010/main" val="8426116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8B095-81CA-40D2-B797-B111ECA4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evolution and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D171-5399-48E6-A36B-91CF661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1643B-E2F0-4359-A913-A795E73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099E-CFFF-4A13-AE08-1C45EE7DA10D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813435"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48780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Tran &amp; Hy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Design by Directed Evolution Guided by Large Language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Language-model-guided candidate generation and a learned fitness oracle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Assay conditions and PET/TPA activity require a separate, validated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93738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Hong et al.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Structure Prediction Using a New Optimization-Based Evolutionary and Explainable Artificial Intelligence Approach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 optimization and explainability for structure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Structure prediction alone does not establish condition-specific enzyme activity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1275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C324-FBD5-4016-BED4-9C7FCC7B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protein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E143D-8C04-4B4A-BB73-B00D5F2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5CF1-0BE6-4481-BE81-9D60EFA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AEED-FBC4-4EB9-8477-D38AFC6311B7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641287"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585405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Lin et al. (2023)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Evolutionary-scale prediction of atomic-level protein structure with a language model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Large protein language models support structural prediction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Test whether frozen representations support TPA prediction with assay conditions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821434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Rives et al. (2021)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Biological structure and function emerge from scaling unsupervised learning to 250 million protein sequences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learning captures biological structure and function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 quality does not guarantee activity prediction on 25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2580-0794-4AA5-A2D7-0A60E09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483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 tests a specific application of these ideas. It does not claim to solve every gap.</a:t>
            </a:r>
          </a:p>
        </p:txBody>
      </p:sp>
    </p:spTree>
    <p:extLst>
      <p:ext uri="{BB962C8B-B14F-4D97-AF65-F5344CB8AC3E}">
        <p14:creationId xmlns:p14="http://schemas.microsoft.com/office/powerpoint/2010/main" val="370403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9B7B3-84B0-4FAA-A219-ABA72F2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5644-09C5-4D48-B114-13A52CB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9917-F1FE-475F-B3B2-B3E9FF4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424E-5DFB-4E4D-8E6F-AF2A1E6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7448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representation + environmental conditions + recorded activity + retained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439AE-908F-46E2-97E3-237D012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7410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Can protein sequence representations and environmental conditions jointly support reliable enzyme activity prediction under plastic-degradation conditions?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AE799-1FBF-411A-B35C-B0507C8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current experiments test this question under limited protein coverage.</a:t>
            </a:r>
          </a:p>
        </p:txBody>
      </p:sp>
    </p:spTree>
    <p:extLst>
      <p:ext uri="{BB962C8B-B14F-4D97-AF65-F5344CB8AC3E}">
        <p14:creationId xmlns:p14="http://schemas.microsoft.com/office/powerpoint/2010/main" val="6750202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4A22-0F7D-4044-9DA7-194F192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sources and intended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59F46-2028-4374-8738-4E3AF32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638F-4255-4DEB-88F8-179EF10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1EFD5-4AAC-479E-9B5A-7616B471B6CF}"/>
              </a:ext>
            </a:extLst>
          </p:cNvPr>
          <p:cNvGraphicFramePr/>
          <p:nvPr/>
        </p:nvGraphicFramePr>
        <p:xfrm>
          <a:off xmlns:a="http://schemas.openxmlformats.org/drawingml/2006/main" x="904875" y="1438275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524500"/>
              </a:tblGrid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EnzAIme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PAZy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Plastic-active enzymes and recorded PET/TPA assay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UniProt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sequences and biological metadata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BRENDA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Enzyme-property and condition context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FireProtDB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Mutation/stability evidence for future analysis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PDB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information for future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Wastewater datasets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Environmental scenarios and context, not activity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F9122-E493-4696-9DD9-1B292EB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Confirmed labels trace to PAZy assay records. Other sources do not imply complete label coverage.</a:t>
            </a:r>
          </a:p>
        </p:txBody>
      </p:sp>
    </p:spTree>
    <p:extLst>
      <p:ext uri="{BB962C8B-B14F-4D97-AF65-F5344CB8AC3E}">
        <p14:creationId xmlns:p14="http://schemas.microsoft.com/office/powerpoint/2010/main" val="1133238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7B15E-CD8E-4A02-B88B-2DC92AE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construction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3CFA8-7184-47BA-AB95-1B5594C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FC9D-0E1E-46F3-9C90-7E54CEE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99CE7-40E3-4EDC-B773-1F1641ED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Biological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6321-8131-4781-8B39-0CACBF5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78C1-3D48-4426-B95F-F6CB87F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462 master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EB6B-D6D4-4FE8-A993-5D5BA7E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DE82D-9642-4122-A5AF-EBC8FEA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7,195 embedded assays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D79FD-14F2-4C7D-B914-854541F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TPA/PET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1CA5-3B3B-4026-9C13-F17CA14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3C68-D913-4A05-B169-7947C6C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227 candidate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5E8DC-11A0-42A9-8E86-3A8D442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F5F47-C8FD-47BA-A107-2A8F36B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Provenance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EF77-B6C7-4D4C-BB8B-9975B63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Exclude 6 ambiguous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12DF5-4965-4FDB-ACA9-11D6C5E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34DB9-06DF-4016-A863-7206612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221 confirmed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05D7-C81B-4603-9A48-CE23974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38A14-92CD-4121-B2D3-0CA3AE9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25 protein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A219A-15A3-4684-8C71-B463DEB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Labels derive from recorded experimental measurements, including digitized source values. Duration is normalized to hours.</a:t>
            </a:r>
          </a:p>
        </p:txBody>
      </p:sp>
    </p:spTree>
    <p:extLst>
      <p:ext uri="{BB962C8B-B14F-4D97-AF65-F5344CB8AC3E}">
        <p14:creationId xmlns:p14="http://schemas.microsoft.com/office/powerpoint/2010/main" val="1898345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7A835-EE21-490B-9262-08E4F49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dataset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8BF8-8D2C-47B9-89E2-E5E91F62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F9B9-2CC2-4648-9E4B-F874C19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6372-7EF6-4B73-A4F4-A9E3818A1E8D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Activity observations / proteins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/ 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TPA concentration, standardized to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25–80 °C / 7–9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0–672 hours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range / median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0.3–47,000 µM / 194.8 µM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Current inputs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embedding, 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D3C9E-B8F3-4970-8129-F9CBD49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Target field: target_value_standardized. Concentration is an assay endpoint, not a universal fitness score.</a:t>
            </a:r>
          </a:p>
        </p:txBody>
      </p:sp>
    </p:spTree>
    <p:extLst>
      <p:ext uri="{BB962C8B-B14F-4D97-AF65-F5344CB8AC3E}">
        <p14:creationId xmlns:p14="http://schemas.microsoft.com/office/powerpoint/2010/main" val="678607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9531-AD77-4D9F-AC42-9C9D67A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Activity provenance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51A7D-6E48-40D0-90A9-75BB50C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F615-F28D-4DF6-8776-60388DB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325F-2FD0-4120-B81A-0BC4D8BC7A99}"/>
              </a:ext>
            </a:extLst>
          </p:cNvPr>
          <p:cNvGraphicFramePr/>
          <p:nvPr/>
        </p:nvGraphicFramePr>
        <p:xfrm>
          <a:off xmlns:a="http://schemas.openxmlformats.org/drawingml/2006/main" x="904875" y="1552575"/>
          <a:ext xmlns:a="http://schemas.openxmlformats.org/drawingml/2006/main" cx="7620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3095625"/>
              </a:tblGrid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finding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Confirmed dataset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Ambiguous records excluded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 records, retained separately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Repeated protein-condition groups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Exact duplicate groups / rows involved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 groups / 9 rows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Zero-duration observations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6291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identity audit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 unique sequences, no exact cross-protein duplicates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9B5F-C71E-45EF-BCF4-8CF8CA6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387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Repeated conditions and duplicate patterns were audited. They were not automatically discarded.</a:t>
            </a:r>
          </a:p>
        </p:txBody>
      </p:sp>
    </p:spTree>
    <p:extLst>
      <p:ext uri="{BB962C8B-B14F-4D97-AF65-F5344CB8AC3E}">
        <p14:creationId xmlns:p14="http://schemas.microsoft.com/office/powerpoint/2010/main" val="944759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F3509-5774-49BB-ADB4-017A6D5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imbalance and assay variability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54D9-7396-43C8-ACB9-B9F1429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84BD-95EF-49A4-938E-AEDABF1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7EC65-16C4-44C6-8BB6-0F692EB4A677}"/>
              </a:ext>
            </a:extLst>
          </p:cNvPr>
          <p:cNvGraphicFramePr/>
          <p:nvPr/>
        </p:nvGraphicFramePr>
        <p:xfrm>
          <a:off xmlns:a="http://schemas.openxmlformats.org/drawingml/2006/main" x="904875" y="1600200"/>
          <a:ext xmlns:a="http://schemas.openxmlformats.org/drawingml/2006/main" cx="3810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</a:tblGrid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HiC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CalB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69620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Remaining 22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E49E-C7DB-4C12-AA21-0FFEB06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HiC contributes 75 of 221 observations (33.9%).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4FEFA-7085-4F28-B3D1-40D29C9B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47 of 48 repeated-condition groups have different targets. All 48 have recorded metadata differences.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09B39-F3DF-4A51-AEF1-185FE44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Matching protein, pH, temperature and duration does not establish identical experimental protocols.</a:t>
            </a:r>
          </a:p>
        </p:txBody>
      </p:sp>
    </p:spTree>
    <p:extLst>
      <p:ext uri="{BB962C8B-B14F-4D97-AF65-F5344CB8AC3E}">
        <p14:creationId xmlns:p14="http://schemas.microsoft.com/office/powerpoint/2010/main" val="5404354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A6A35-63DE-450A-B643-817DBF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Feature eligibility and leakage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4068-7475-4798-B104-3EE535B0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B9372-42B7-4EF3-9786-71A37B8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D9DC5-9871-444C-85CB-98BC6675AC3F}"/>
              </a:ext>
            </a:extLst>
          </p:cNvPr>
          <p:cNvGraphicFramePr/>
          <p:nvPr/>
        </p:nvGraphicFramePr>
        <p:xfrm>
          <a:off xmlns:a="http://schemas.openxmlformats.org/drawingml/2006/main" x="904875" y="1466850"/>
          <a:ext xmlns:a="http://schemas.openxmlformats.org/drawingml/2006/main" cx="4953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24000"/>
              </a:tblGrid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SAFE_WITH_CAUTION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LEAKAGE_RISK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NOT_RECOMMENDED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FUTURE_FEATURE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8A67-21E8-4D65-A932-39E80F8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57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48 candidate features audited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AF5C2-FEED-4AE0-842C-29206A6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ID is for grouping. Source IDs, outcomes and protocol-rich metadata are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C1C0-74C3-4211-B7A4-BDC79FA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Salinity, COD, BOD and pollutant type lack confirmed-label coverage. EC numbers are empty in this cohort.</a:t>
            </a:r>
          </a:p>
        </p:txBody>
      </p:sp>
    </p:spTree>
    <p:extLst>
      <p:ext uri="{BB962C8B-B14F-4D97-AF65-F5344CB8AC3E}">
        <p14:creationId xmlns:p14="http://schemas.microsoft.com/office/powerpoint/2010/main" val="15480583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3DD6B-2BBA-4530-93D2-847A581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feature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298BF-9D12-4214-8E6E-4D4BCD5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8CB0C-10BD-4F22-9466-97479DF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D24D-CA46-44C4-87A2-72AA8F21BA9A}"/>
              </a:ext>
            </a:extLst>
          </p:cNvPr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76200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48125"/>
                <a:gridCol w="1666875"/>
              </a:tblGrid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dimensions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Frozen ESM-2 embedding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 (rejected)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 + material + substrate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A2DF7-9A8E-4018-965E-972AD9A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Material descriptions are source/protocol-specific. Substrate is PET in all 221 rows, so it adds no variation.</a:t>
            </a:r>
          </a:p>
        </p:txBody>
      </p:sp>
    </p:spTree>
    <p:extLst>
      <p:ext uri="{BB962C8B-B14F-4D97-AF65-F5344CB8AC3E}">
        <p14:creationId xmlns:p14="http://schemas.microsoft.com/office/powerpoint/2010/main" val="15289209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0106-E26E-4D4E-8ACD-23C3DD4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model are we using?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6B199-F6DB-478F-8DE8-656F82F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605D3-F59F-4865-9B8D-C6AFA94D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2E95-3727-4327-BBD1-BF765D7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621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Frozen ESM-2 + Ridge regression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BAB4-C6A2-4540-B895-7ABFE42026D3}"/>
              </a:ext>
            </a:extLst>
          </p:cNvPr>
          <p:cNvGraphicFramePr/>
          <p:nvPr/>
        </p:nvGraphicFramePr>
        <p:xfrm>
          <a:off xmlns:a="http://schemas.openxmlformats.org/drawingml/2006/main" x="904875" y="2609850"/>
          <a:ext xmlns:a="http://schemas.openxmlformats.org/drawingml/2006/main" cx="76200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905375"/>
              </a:tblGrid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controlled baseline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Feature extractor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facebook/esm2_t33_650M_UR50D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representation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1,280-dimensional vector, no fine-tuning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Supervised estimator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Ridge regression, α = 10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Dimensionality reduction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10 PCA components for B and C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/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log1p target / 5-fold GroupKFold by 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634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88CFE-5764-4378-9877-FC0A7C2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D093-E18F-4FD5-88E3-C1735E5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664F-453D-4056-BED6-E6C82DF6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FB057-2682-4B78-81E5-85038CC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09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BA77-5414-4477-A090-5C436EA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48C88-D23F-49C4-8E48-8FC0A7D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1FB8-CD6A-45DC-9AAF-F7A3DD9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9AF4-9028-482F-AA46-546ABC8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57525"/>
            <a:ext cx="4714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Transformer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33 layers, 650M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50A59-43D9-4BB3-8D29-3396F7A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0E088-9036-478A-99D9-257B9FB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76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Attention-mask mean pooling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B65BC-F5AA-4C65-9D75-8100489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005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577E8-4A89-40FE-AA98-CE109C1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9585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1,280-dimensional 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89CD9-3A26-4338-A342-DD6AFDD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25/25 confirmed proteins have finite vectors. Current pooling includes special tokens.</a:t>
            </a:r>
          </a:p>
        </p:txBody>
      </p:sp>
    </p:spTree>
    <p:extLst>
      <p:ext uri="{BB962C8B-B14F-4D97-AF65-F5344CB8AC3E}">
        <p14:creationId xmlns:p14="http://schemas.microsoft.com/office/powerpoint/2010/main" val="1401293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D6F94-735B-42C8-B784-A4D94DB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research prediction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E2E17-FEB5-4951-9B96-670FA6E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48A4-4200-4AA0-B74A-E9FC230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E2A3-711B-47C0-A823-8554C36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vector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54814-8738-400C-8634-6F701AC4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62100"/>
            <a:ext cx="3095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pH, duration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0019-76D2-415F-A03F-EB2D2D4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F246-5BFD-469A-8380-ECF598FC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905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scaling + PCA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10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169E-A271-4E31-BEA4-D6BFB1CF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2095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D293-FD54-4AFA-92E8-E4144C9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90850"/>
            <a:ext cx="10572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A9AA7-BFDA-487D-93A4-4E5658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Concatenate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13 model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66DC1-D7D0-4EEB-B5C9-0AD2A8C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08E0D-9C1C-40D0-8536-7D8FDE5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470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final scaling + 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259C5-0D4A-4E29-AF95-8266B8C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291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96EFB-C6BA-48F5-B04B-7D7A7CEA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62525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 prediction after expm1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6B81F-18DE-4D71-9201-CA77683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Configuration C shown. Raw feature fusion is 1,283-dimensional before PCA reduction.</a:t>
            </a:r>
          </a:p>
        </p:txBody>
      </p:sp>
    </p:spTree>
    <p:extLst>
      <p:ext uri="{BB962C8B-B14F-4D97-AF65-F5344CB8AC3E}">
        <p14:creationId xmlns:p14="http://schemas.microsoft.com/office/powerpoint/2010/main" val="1033552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62EC5-FF59-4625-B4A1-288D544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Representation and feature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71ED8-857F-4322-88C1-3E7D1E3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97D93-83ED-4B3F-ACF4-11A4903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7A8C0-13C4-4C43-8D24-661D30E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Mean pooling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5FE5-D906-4281-ABC8-82BDF0E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 = ( Σᵢ mᵢ hᵢ ) / ( Σᵢ mᵢ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71793-BC45-4F27-9272-74223B4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71775"/>
            <a:ext cx="747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hᵢ: token representation     mᵢ: attention-mask indicator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57C5-3545-4E82-9AFA-C841D58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Raw feature fusion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59A41-3112-4B36-BA87-4BF9316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738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x = [ z_ESM ; T ; pH ; d ]     dim(x) = 1,283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9A929-31A7-4AE4-8CE7-762C0EE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z_ESM has 1,280 features. T is temperature and d is duration in hours.</a:t>
            </a:r>
          </a:p>
        </p:txBody>
      </p:sp>
    </p:spTree>
    <p:extLst>
      <p:ext uri="{BB962C8B-B14F-4D97-AF65-F5344CB8AC3E}">
        <p14:creationId xmlns:p14="http://schemas.microsoft.com/office/powerpoint/2010/main" val="4211762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8DFF-4E03-4702-890A-00C7071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Ridge training and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D791F-08D9-4429-AF8A-386F0E7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8980-FEDC-4BC8-80C2-79DA76C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E645-9FBD-410C-B267-67F8008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Target transform:     y′ = ln(1 + 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D7DE1-D74B-4A61-94B6-B83F61F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Minimize over w and b: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B34ED-A938-42BC-94DF-31C0A20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‖y′ − Xw − b1‖₂² + α‖w‖₂²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0D61-377B-4936-B796-2F4C4B7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α = 10. The fitted intercept b is unpenalized.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AD4AB-60DC-4A85-B78E-4289408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Prediction:     ŷ = exp(ŷ′) 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6DD64-BFEF-4DB9-A039-278FBBA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Evaluation returns to the original µM scale.</a:t>
            </a:r>
          </a:p>
        </p:txBody>
      </p:sp>
    </p:spTree>
    <p:extLst>
      <p:ext uri="{BB962C8B-B14F-4D97-AF65-F5344CB8AC3E}">
        <p14:creationId xmlns:p14="http://schemas.microsoft.com/office/powerpoint/2010/main" val="32002844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B43F-466E-45D0-A3CD-79FD4E2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60B2-0CF9-4E04-BD49-690FBC4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763C-9200-4CDF-A7CF-DD6CDB22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7A46-7F93-4865-BFA7-54274DD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MAE = (1/n) Σᵢ |yᵢ − ŷᵢ|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BC91-92A3-4D06-9C22-EFC843F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RMSE = √[(1/n) Σᵢ (yᵢ − ŷᵢ)²]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B11C-8213-4CFA-8D00-56BBE4D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735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R² = 1 − Σᵢ(yᵢ − ŷᵢ)² / Σᵢ(yᵢ − ȳ)²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7FD9F-8589-4BC3-AFFE-4B40028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71950"/>
            <a:ext cx="735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Spearman ρ = corr(rank(y), rank(ŷ))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42DDB-D903-4C84-BB16-5E77E62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MAE/RMSE measure error in µM. Negative R² means worse squared error than the held-out mean baseline.</a:t>
            </a:r>
          </a:p>
        </p:txBody>
      </p:sp>
    </p:spTree>
    <p:extLst>
      <p:ext uri="{BB962C8B-B14F-4D97-AF65-F5344CB8AC3E}">
        <p14:creationId xmlns:p14="http://schemas.microsoft.com/office/powerpoint/2010/main" val="17088957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3BA0C-EC8B-41A4-8BBB-A9E96B4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Protein-grouped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0EAA3-B0AF-4834-BFBE-6FDE737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5571E-2B0F-4BB5-A064-0DDB43C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CBAE-2807-47B1-A374-8BA2A62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381125"/>
            <a:ext cx="738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All records for a protein stay in one fold.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E5DE-A212-44F7-9795-887BA8D6FB47}"/>
              </a:ext>
            </a:extLst>
          </p:cNvPr>
          <p:cNvGraphicFramePr/>
          <p:nvPr/>
        </p:nvGraphicFramePr>
        <p:xfrm>
          <a:off xmlns:a="http://schemas.openxmlformats.org/drawingml/2006/main" x="904875" y="219075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90875"/>
                <a:gridCol w="2714625"/>
              </a:tblGrid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observations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proteins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2F71-A179-48E0-BFD0-B2E8751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Train proteins ≠ test proteins. Fit PCA/scalers on training data only, then transform the held-out fold.</a:t>
            </a:r>
          </a:p>
        </p:txBody>
      </p:sp>
    </p:spTree>
    <p:extLst>
      <p:ext uri="{BB962C8B-B14F-4D97-AF65-F5344CB8AC3E}">
        <p14:creationId xmlns:p14="http://schemas.microsoft.com/office/powerpoint/2010/main" val="9203155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543B6-5812-4C07-BCE9-6D77006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F82C0-066A-4CEE-B56D-178D10C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19D4-70C2-4B20-818F-0DFB68F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2BD3-B52E-4DC2-89AD-458B27381B69}"/>
              </a:ext>
            </a:extLst>
          </p:cNvPr>
          <p:cNvGraphicFramePr/>
          <p:nvPr/>
        </p:nvGraphicFramePr>
        <p:xfrm>
          <a:off xmlns:a="http://schemas.openxmlformats.org/drawingml/2006/main" x="904875" y="179070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381125"/>
                <a:gridCol w="1476375"/>
                <a:gridCol w="1285875"/>
                <a:gridCol w="1381125"/>
              </a:tblGrid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Spearman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 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1423.11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3200.77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  ESM-2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1918.29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3943.42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-86.87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-0.227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  Combined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1592.12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3452.48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-23.22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0.239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BFA1-C465-4D6A-A569-FB975FF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Mean fold metrics, same grouped splits and Ridge α = 10.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F7A91-2C3E-4267-A3A4-09F11AF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B Spearman averages 4 defined folds. Fold 1 is undefined because its predictions are constant.</a:t>
            </a:r>
          </a:p>
        </p:txBody>
      </p:sp>
    </p:spTree>
    <p:extLst>
      <p:ext uri="{BB962C8B-B14F-4D97-AF65-F5344CB8AC3E}">
        <p14:creationId xmlns:p14="http://schemas.microsoft.com/office/powerpoint/2010/main" val="8151822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FC76-65BC-420D-B2B0-3F7953C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Ablation: absolute prediction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2C01-ED5E-46C3-AA83-2D05103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9DAC-4D28-4458-A22C-774EBB7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0A71708-CCED-4362-8B47-23EB1D12CB02}"/>
              </a:ext>
            </a:extLst>
          </p:cNvPr>
          <p:cNvGraphicFramePr/>
          <p:nvPr/>
        </p:nvGraphicFramePr>
        <p:xfrm>
          <a:off xmlns:a="http://schemas.openxmlformats.org/drawingml/2006/main" x="1047750" y="1533525"/>
          <a:ext xmlns:a="http://schemas.openxmlformats.org/drawingml/2006/main" cx="73628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f5d8ce8dc49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6B713-BE60-4A6D-8950-B358E2E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Combined features reduce error relative to ESM-2 alone, but do not outperform environment-only here.</a:t>
            </a:r>
          </a:p>
        </p:txBody>
      </p:sp>
    </p:spTree>
    <p:extLst>
      <p:ext uri="{BB962C8B-B14F-4D97-AF65-F5344CB8AC3E}">
        <p14:creationId xmlns:p14="http://schemas.microsoft.com/office/powerpoint/2010/main" val="46222674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E8BD1-5616-4540-B33F-2F23FEA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the current results tell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C863-16F0-44C9-B19B-B1AC9C8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4B63-AA23-4E72-BEB9-04F7473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8E058-3343-4EA0-ADE6-08199CF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71F52-8849-421E-88BE-1D7C55A6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144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Environment-only shows positive mean ranking signal (Spearman 0.313).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7FD84-52F7-4C48-AF13-5E0E671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8193B-9CD4-42FC-BEAA-15AB652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alone generalizes poorly in this small dataset. Adding conditions helps relative to ESM-2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6C329-BAED-487C-880A-EE06B9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6844B-D5E6-4803-89E4-47C2DDB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mean R² and large fold differences limit claims about absolute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88F1-A94E-4B87-96F2-73643DA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577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1CBA6-70CA-4B42-9C95-ADB7F76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findings concern this dataset and setup. They do not establish that protein language models are ineffective.</a:t>
            </a:r>
          </a:p>
        </p:txBody>
      </p:sp>
    </p:spTree>
    <p:extLst>
      <p:ext uri="{BB962C8B-B14F-4D97-AF65-F5344CB8AC3E}">
        <p14:creationId xmlns:p14="http://schemas.microsoft.com/office/powerpoint/2010/main" val="2876043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8D31D-D192-42C5-9976-E1C5C4D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Completed fold-level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8666-A136-45DC-9F24-CCBC394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3AAE-9564-4D95-87CE-268A52F0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DECD-CA15-48F1-8A4C-AA2D54549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b5c6701f4866"/>
          <a:stretch xmlns:a="http://schemas.openxmlformats.org/drawingml/2006/main"/>
        </p:blipFill>
        <p:spPr>
          <a:xfrm xmlns:a="http://schemas.openxmlformats.org/drawingml/2006/main">
            <a:off x="923925" y="2173129"/>
            <a:ext cx="7610475" cy="228314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28681-A0C8-4494-8136-2EF3B19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84F"/>
                </a:solidFill>
                <a:latin typeface="Arial"/>
                <a:ea typeface="Arial"/>
                <a:cs typeface="Arial"/>
              </a:rPr>
              <a:t>Research experiment output: saved out-of-fold prediction plots.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76842-8534-4CCF-8FF6-A935AAC2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Per-fold and per-protein diagnostics are complete. Interpretation and model refinement continue.</a:t>
            </a:r>
          </a:p>
        </p:txBody>
      </p:sp>
    </p:spTree>
    <p:extLst>
      <p:ext uri="{BB962C8B-B14F-4D97-AF65-F5344CB8AC3E}">
        <p14:creationId xmlns:p14="http://schemas.microsoft.com/office/powerpoint/2010/main" val="7000044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D89C-0F4C-4367-975A-04DFD88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Error analysis: two 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EC337-7535-4A7D-86EB-AECC162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392B6-29E8-40D9-8745-9024D9C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77092-4E2A-428A-A2D4-9D21D2F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PHL-7 in fold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05BF-992C-46CF-BAB5-C7FA74C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733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Observed TPA reaches 47,000 µM. The fold’s training targets reach only about 6,860 µM. The retained provenance supports 47 mM converted to µM.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8B90-D7B2-4C46-BB5C-11D8816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606 in fold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47F5-D88B-4E15-B18B-ED6A265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Overprediction for this protein contributes 99.3% of B’s and 98.0% of C’s fold-3 squared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31B0-DE80-43B6-8B4A-505DA85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Large values and repeated conditions require source review, not automatic removal.</a:t>
            </a:r>
          </a:p>
        </p:txBody>
      </p:sp>
    </p:spTree>
    <p:extLst>
      <p:ext uri="{BB962C8B-B14F-4D97-AF65-F5344CB8AC3E}">
        <p14:creationId xmlns:p14="http://schemas.microsoft.com/office/powerpoint/2010/main" val="203613632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50D2E-D1B1-4EB7-BB06-7FE71F2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Additional research already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8F2C-E94D-4B89-9FE1-27253E4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BC50-C8BF-49DA-8A25-ACF7718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84703-93D1-4F10-8C9A-D014BC6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768F-9C5B-4D24-945C-10D8F0C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Model comparison reports evaluate Ridge, ElasticNet, Random Forest and Gradient Boosting.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F194-21A8-4BC6-BC54-A61AB74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19DB-326E-4155-97EB-4DBB5E8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separate balance analysis samples at most 5 records per protein: 82 records across all 25 proteins.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E4255-A0C1-435F-BE68-D5F87B2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700F-7B0C-4BDF-A04F-BC80229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Repeated-condition analysis records protocol/metadata differences across all 48 repeated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0FC3F-EAEC-4398-881B-DD46F35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D9691-57D0-42A8-ACB7-F7F0FBE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are exploratory follow-ups. Final model selection and an independently validated serving artifact remain open.</a:t>
            </a:r>
          </a:p>
        </p:txBody>
      </p:sp>
    </p:spTree>
    <p:extLst>
      <p:ext uri="{BB962C8B-B14F-4D97-AF65-F5344CB8AC3E}">
        <p14:creationId xmlns:p14="http://schemas.microsoft.com/office/powerpoint/2010/main" val="178282328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A1A76-FD17-4BB5-B596-984B6B9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7822-FE3B-466B-8064-8852B4F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686AB-FB37-4B07-AF9E-1BF5520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D0999-3965-42E2-A8BE-6F77E46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14382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44D2-BF25-4FDD-BCD9-FC989FE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E6837-ED4B-4FC4-A0F9-C12C6AA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525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React /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B5CA-57F2-4EA8-8FDD-EEF66B1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D5D83-BB85-4C6C-BFE2-6E2318A1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0394B-A0C4-4399-8FF1-10F43E1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4F377-3471-404B-8DA2-6FDD25BC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3686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 / recommend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80E12-8095-4FBD-9A45-46CDB9D8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BE9DC-D93A-4FD6-AAFC-EAF4619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0475"/>
            <a:ext cx="47815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+ saved PCA/scaler/Ridge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227-row candidate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9322C-A547-435D-AA04-620A57D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scripts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221-row dataset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A/B/C evaluation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F6ED-2608-4B05-A511-AA6CA9F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Application serving and confirmed-data experiments are distinct paths. Production use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8392053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0262B-3FCF-4F35-9392-246F5057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Served model: lineage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AEA7-3793-495A-8EBD-11129EA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A9A5-972F-4BC3-BC89-64343BF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D0B30-4801-4E70-B427-6C612E8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C8A9-3630-4C67-A580-9378FE3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Saved PCA/scaler metadata points to 227 legacy observations, including the 6 ambiguous source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5E031-38E8-43D3-8CC3-4D4B203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C664-FE3F-44B1-A050-F678E39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431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Exact final Ridge training rows, saved CV membership and artifact-to-run linkage remain unresolved.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8D7A2-B5DF-4642-B35A-2C11F50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9BE8-4A2C-48D3-AD90-36F6FAD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recommendation source is the legacy CSV. Its evidence counts are not confirmed-record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3A6CD-D921-4460-BFC2-F4D02D1C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05CEB-8BD2-4E4D-8838-BBC380ED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one-input check matched across scikit-learn 1.9.1 and 1.6.1. This does not establish general compatibility or scientific validity.</a:t>
            </a:r>
          </a:p>
        </p:txBody>
      </p:sp>
    </p:spTree>
    <p:extLst>
      <p:ext uri="{BB962C8B-B14F-4D97-AF65-F5344CB8AC3E}">
        <p14:creationId xmlns:p14="http://schemas.microsoft.com/office/powerpoint/2010/main" val="106856219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4E52A-E81E-4D12-B407-5A3E2D7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Actual saved API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051E-FDA9-4240-B580-8E72232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016B-FD0D-4791-BBE2-E845382B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79E6-82E3-48E7-BF3E-5A0610FA5BB2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IsPETase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40 °C / 8.0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 / substrate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 hours / PET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871423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Returned TPA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23.14270943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3FCC-996B-4EC5-9A02-C85E8E1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Actual system output from the legacy model. This is a prediction example, not a measured assay result.</a:t>
            </a:r>
          </a:p>
        </p:txBody>
      </p:sp>
    </p:spTree>
    <p:extLst>
      <p:ext uri="{BB962C8B-B14F-4D97-AF65-F5344CB8AC3E}">
        <p14:creationId xmlns:p14="http://schemas.microsoft.com/office/powerpoint/2010/main" val="174085172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7B3CC-D703-4FC0-B6EE-E657012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F151-4871-46EA-A84F-27925146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17E91-7370-4AF4-ADBF-E51921D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C501B-3D4C-40C1-894F-B9579CE8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749dc878246ab"/>
          <a:stretch xmlns:a="http://schemas.openxmlformats.org/drawingml/2006/main"/>
        </p:blipFill>
        <p:spPr>
          <a:xfrm xmlns:a="http://schemas.openxmlformats.org/drawingml/2006/main">
            <a:off x="985181" y="1476375"/>
            <a:ext cx="7468914" cy="3886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183C-DD0D-4314-BEF0-3782D0B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 from the supplied deck. Initial prototype interface.</a:t>
            </a:r>
          </a:p>
        </p:txBody>
      </p:sp>
    </p:spTree>
    <p:extLst>
      <p:ext uri="{BB962C8B-B14F-4D97-AF65-F5344CB8AC3E}">
        <p14:creationId xmlns:p14="http://schemas.microsoft.com/office/powerpoint/2010/main" val="131365661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DE655-8B14-40FE-AD51-DF8FF7C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57BF2-FFDF-4732-BD2B-58BEC9B1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3A87-42B8-4694-94FA-A27ACC2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0D70-766F-49EB-A196-F6F59BC13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4bbed5b08409a"/>
          <a:stretch xmlns:a="http://schemas.openxmlformats.org/drawingml/2006/main"/>
        </p:blipFill>
        <p:spPr>
          <a:xfrm xmlns:a="http://schemas.openxmlformats.org/drawingml/2006/main">
            <a:off x="933450" y="1494295"/>
            <a:ext cx="7572375" cy="38503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1209E-CBED-4C8D-B866-8E46605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rule-based output. Suitability percentages are not learned activity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987196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C80C3-E519-451C-9741-8083D379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enzyme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3A54-981C-4109-AA21-670414E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800F8-19F2-4309-9123-ED328BA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07CBD-FD11-44E8-B546-C0DE27967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22afb8afc40ad"/>
          <a:stretch xmlns:a="http://schemas.openxmlformats.org/drawingml/2006/main"/>
        </p:blipFill>
        <p:spPr>
          <a:xfrm xmlns:a="http://schemas.openxmlformats.org/drawingml/2006/main">
            <a:off x="933450" y="1495347"/>
            <a:ext cx="7572375" cy="384825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B0083-D001-4ABA-8776-5BE8D96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screenshot. Enzyme metadata and preliminary mutation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23470328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3852-A08A-422E-A1DF-94D9527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Initial rule-based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37E6-75E3-4C82-9319-EC3606D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6FB01-CC0A-46F0-AB46-56F7076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528DB-5384-427F-99A9-1EBD69D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145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 = 0.40 P + 0.25 H + 0.25 T + 0.10 Sₐ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42D16-6657-453C-A919-D2A59F2269E4}"/>
              </a:ext>
            </a:extLst>
          </p:cNvPr>
          <p:cNvGraphicFramePr/>
          <p:nvPr/>
        </p:nvGraphicFramePr>
        <p:xfrm>
          <a:off xmlns:a="http://schemas.openxmlformats.org/drawingml/2006/main" x="904875" y="2752725"/>
          <a:ext xmlns:a="http://schemas.openxmlformats.org/drawingml/2006/main" cx="76200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286000"/>
              </a:tblGrid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Compatibility term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Pollutant (P)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0.40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pH (H)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(T)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Salinity (Sₐ)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EB571-CE6C-44D7-B128-36A89266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This transparent score was an initial prototype baseline. It is separate from the learned TPA predictor.</a:t>
            </a:r>
          </a:p>
        </p:txBody>
      </p:sp>
    </p:spTree>
    <p:extLst>
      <p:ext uri="{BB962C8B-B14F-4D97-AF65-F5344CB8AC3E}">
        <p14:creationId xmlns:p14="http://schemas.microsoft.com/office/powerpoint/2010/main" val="208977019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B896-A7CC-425D-8B2E-61BE1B6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Preliminary mutation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83BC-88DC-4955-90EB-96D35DD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5821-F515-46E5-BE6B-FA835B4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FD7D5-EE8B-4A36-AEFC-4EEB6E0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144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Historical prototype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F941-D9A2-42D5-B4BE-2B28ED2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7381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S_mut = 0.7 × stability proxy + 0.3 × fitness 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AA16E-8323-4F70-BB61-F3016A0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FFEA-1EAB-4836-86EB-1959216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Physicochemical proxies rank computational mutation hypotheses.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5BD63-4E82-4D27-A608-C947A8D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41F72-28C8-4F7F-A52C-C2C6EAA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FireProtDB matching provides insufficient mutation/ΔΔG evidence for this 25-protein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583FF-6377-492B-AF59-516E978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Mutation candidates require experimental validation. No validated mutation predictor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0031853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34F45-9C1F-487D-AF80-0FB186A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2E299-466A-4FE2-A5AC-86FC84B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56EF-056E-474C-91B6-9FDFB2A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8495-1FDD-4BF3-88D8-5803308476BB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</a:tblGrid>
              <a:tr h="408541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Evidence-backed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Master integration, TPA extraction, provenance/ambiguity review, duration normalization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vectors, leakage audit, feature matrices, grouped A/B/C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Fold diagnostics, targeted audits, model comparison and balance sensitivity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Prototype available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backend and React/Vite frontend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In progress / open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Model refinement, explainability, uncertainty and final model selection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mutation design, structures, docking, wet-lab study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29806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ED221-FB0C-424C-BEA3-7CF9827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Codebase and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2332-0C56-46D9-9E00-C43C9B7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DBDC6-3DD4-4106-9513-0F8176B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658D3-243F-4041-ABD6-9CB55863747B}"/>
              </a:ext>
            </a:extLst>
          </p:cNvPr>
          <p:cNvGraphicFramePr/>
          <p:nvPr/>
        </p:nvGraphicFramePr>
        <p:xfrm>
          <a:off xmlns:a="http://schemas.openxmlformats.org/drawingml/2006/main" x="904875" y="1504950"/>
          <a:ext xmlns:a="http://schemas.openxmlformats.org/drawingml/2006/main" cx="7620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95300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backend/app/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routes, ESM encoder, prediction and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frontend/src/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 interface and research/legacy evidence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scripts/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Dataset audits and reproducible research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data/ and models/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Confirmed/legacy datasets, stored embeddings and serving artifacts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reports/results/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Ablation, diagnostics and lineage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64E54-0552-473D-A618-5B2B7F7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Verification includes embedding finiteness, protein split checks and a saved API compatibility probe. Software checks do not establish predictive validity.</a:t>
            </a:r>
          </a:p>
        </p:txBody>
      </p:sp>
    </p:spTree>
    <p:extLst>
      <p:ext uri="{BB962C8B-B14F-4D97-AF65-F5344CB8AC3E}">
        <p14:creationId xmlns:p14="http://schemas.microsoft.com/office/powerpoint/2010/main" val="28031483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F5BC-CAE5-4963-A056-41E4A0B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6E0A-66C7-40D3-913F-891D6C9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72986-175E-4869-A62C-5DE20EEF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5C27-CFB4-433C-B033-E5CB2E3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5E064-2CF2-48A5-8E38-4E7A483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Only 25 protein groups and 221 observations, with imbalanced counts and a wide target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63F6A-5E3D-4DD4-BEBF-5251E18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0D1AB-F87C-4300-9C2B-179B756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Available conditions are temperature, pH and duration. Protocol differences remain partly unmodeled.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5BDEC-02EB-4F0C-8EB8-8306C46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5039B-D4C9-4A10-8DD0-ABA3228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R², high fold variability and repeated-condition differences limit generalization.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C734B-EC75-4D83-A139-F12C229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1DD7-B670-4282-9D30-97F7198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Mutation evidence is insufficient. No wet-lab validation or industrial deployment is established.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FA60-D4A7-4F79-AFCE-9FF2844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86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AF455-6495-4005-A967-45A5C69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serving lineage and environment reproducibility need further resolution.</a:t>
            </a:r>
          </a:p>
        </p:txBody>
      </p:sp>
    </p:spTree>
    <p:extLst>
      <p:ext uri="{BB962C8B-B14F-4D97-AF65-F5344CB8AC3E}">
        <p14:creationId xmlns:p14="http://schemas.microsoft.com/office/powerpoint/2010/main" val="277275008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04342-A109-47FD-888F-8935A27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Long-term EnzAIme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8D49-7570-43A9-9CBF-654B49C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46FA-FA25-4B14-9115-75FD780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27B5-232E-4DE6-BE06-1863624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239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PROPOSED / FUTURE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9CAA8-F280-4E33-895B-49A57FE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Wastewater conditions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Environmental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A2AAA-3407-4999-9F4A-74887F6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383FA-951C-4882-83B1-2ED20B20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011C9-43AA-4D03-B61F-B0666CC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66378-F23E-46EC-B59F-F117F05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Multimodal fusion + condition-aware fitness 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B4BE-4217-4D04-9B51-6C6A1F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36F6-4FDD-4D3F-A6AA-873D789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Candidate generation + mutation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1FE7C-9E95-4211-B5BA-14C431E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04FAF-9250-448E-ACAE-6659F949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14925"/>
            <a:ext cx="619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Iterative directed evolution / beam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31702-B706-45E8-BBC8-ED71AD4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00725"/>
            <a:ext cx="741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Structural validation followed by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26342915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1392-8804-441B-87FB-5814F4C0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masking and evolution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A19B8-BAAA-4826-934A-01CBB37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774E5-1A43-4AB3-B9D0-EFB92CE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58D88-FD2D-4E9D-B690-3A998809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3F0C-A360-4E70-9B1A-8C497F8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954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Random masking explores sequence positions. An importance strategy would prioritize candidate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4EA7-74AD-44F3-9DE5-6431C05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82923-4F66-4E5C-909B-9A44DFCF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future language-model generation step proposes substitutions. A validated condition-aware oracle would rank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F3816-6B5E-4226-864F-1D2E8357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ED6FB-ACC0-44C9-B1AB-922E47A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Beam search would retain a small set of candidates over successive rounds.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3E7AE-235E-4485-BF2A-49BF133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815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FABAD-9A51-4520-807B-339CADA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815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Structural assessment and laboratory measurements must test the proposed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5548143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BA20C-13C7-4CD9-AB84-6CC4870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work in research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0A6D-1F10-4718-BD51-B32D93B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B809-2851-4418-8B78-786BD64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F5C2-931C-41B0-A459-B00EB4344802}"/>
              </a:ext>
            </a:extLst>
          </p:cNvPr>
          <p:cNvGraphicFramePr/>
          <p:nvPr/>
        </p:nvGraphicFramePr>
        <p:xfrm>
          <a:off xmlns:a="http://schemas.openxmlformats.org/drawingml/2006/main" x="904875" y="1495425"/>
          <a:ext xmlns:a="http://schemas.openxmlformats.org/drawingml/2006/main" cx="7620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work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1. Resolve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Extend error analysis, source uncertainty and served-artifact lineage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2. Improve 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Balance observations, expand proteins and industrial condition coverage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3. Evaluate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Representation/hyperparameter studies, uncertainty and explainability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4. Rank candidates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 condition-aware ranking before mutation prioritization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5. Validate design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analysis, docking and experimental testing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6. Report findings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Reproducible experiments and a research paper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3466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C7CB4-F765-488B-8CD6-B9E670C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Outputs, feasibility and intended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0E38E-F88F-481F-8A08-7C2F7D9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8E2F1-CC6E-44F5-A106-2F629DE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890D8-12C5-4411-B6A5-76EB760F1143}"/>
              </a:ext>
            </a:extLst>
          </p:cNvPr>
          <p:cNvGraphicFramePr/>
          <p:nvPr/>
        </p:nvGraphicFramePr>
        <p:xfrm>
          <a:off xmlns:a="http://schemas.openxmlformats.org/drawingml/2006/main" x="904875" y="1647825"/>
          <a:ext xmlns:a="http://schemas.openxmlformats.org/drawingml/2006/main" cx="7620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35178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TPA/PET dataset and retained provenance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Broader industrial-condition activity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Verified frozen ESM-2 vectors and ML feature matrices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condition-aware fitness oracle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Controlled experiments and diagnostic reports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candidate and mutation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Recommendation and prediction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AD63C-BC70-47C4-8F1E-BCD98C73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Open-source tools and reused embeddings support feasibility. Environmental benefit requires experimental and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162663231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677F1-DE8A-4084-B7BE-B4391DB3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CACC-597B-4022-9CDE-8907460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5820-F2EF-42F2-98F4-13FC99D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C178A-C0D6-414A-87FE-0D9A7AB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33F23-6938-4B42-9426-F45974C5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 establishes a provenance-aware framework for condition-aware enzyme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C792-20B6-41FD-8645-528161A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7200D-6197-4291-BE6E-0D21C7E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work provides confirmed PET/TPA labels, frozen ESM-2 features and protein-grouped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7367-9452-4B6D-A7F4-A17D56D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983AA-6CC9-435C-9C1D-4E9A603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shows environmental ranking signal alongside substantial prediction and generalization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F450E-350F-47B1-9E8C-446BB20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0D6EE-924F-4F8A-A4E4-838F6B67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Further data, model refinement and experimental validation are necessary before industrial use.</a:t>
            </a:r>
          </a:p>
        </p:txBody>
      </p:sp>
    </p:spTree>
    <p:extLst>
      <p:ext uri="{BB962C8B-B14F-4D97-AF65-F5344CB8AC3E}">
        <p14:creationId xmlns:p14="http://schemas.microsoft.com/office/powerpoint/2010/main" val="10989979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1C806-3967-4D7E-B2D6-6C6AA9F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References and research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C94DE-5B78-4647-8850-AF73C28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AC31-FB6A-4140-B16B-2EE003E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C657-1C31-41B0-97A4-CD23F9D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192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Tran &amp; Hy (2025). Protein Design by Directed Evolution Guided by Large Language Models. IEEE TEVC. DOI: 10.1109/TEVC.2024.3439690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C3E90-C9CF-4FC7-ACEA-1A95D85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Hong et al. (2025). Protein Structure Prediction Using a New Optimization-Based Evolutionary and Explainable Artificial Intelligence Approach. IEEE TEVC. IEEE document 10443319.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93CAB-E7CA-452D-87F5-4F16C8A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67100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Lin et al. (2023). Evolutionary-scale prediction of atomic-level protein structure with a language model. Science. DOI: 10.1126/science.ade2574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2F423-9820-40A3-9EA8-42FC58B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Rives et al. (2021). Biological structure and function emerge from scaling unsupervised learning to 250 million protein sequences. PNAS. DOI: 10.1073/pnas.2016239118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D4B8-38F5-4062-98A4-AF73759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7524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Project evidence: confirmed dataset, controlled ablation, diagnostic reports and served-model audit. Exact paths appear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122518665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B332-B7D9-4073-AB8C-FE6FABE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FB4DF-CBAB-4F66-90AE-B6167FD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16135-3E82-43D2-91A9-6820E53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9881B-B583-4E35-87F5-965E08E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7200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5E32-B2FE-4C42-83F3-23F5317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90975"/>
            <a:ext cx="720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</a:t>
            </a:r>
          </a:p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Environment-aware enzyme research</a:t>
            </a:r>
          </a:p>
        </p:txBody>
      </p:sp>
    </p:spTree>
    <p:extLst>
      <p:ext uri="{BB962C8B-B14F-4D97-AF65-F5344CB8AC3E}">
        <p14:creationId xmlns:p14="http://schemas.microsoft.com/office/powerpoint/2010/main" val="74096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2026-10-01T06:29:53.9830000Z</dcterms:created>
  <dcterms:modified xsi:type="dcterms:W3CDTF">2026-10-01T06:29:53.9830000Z</dcterms:modified>
</coreProperties>
</file>