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Default Extension="jpeg" ContentType="image/jpeg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9f28f255ca4247" /><Relationship Type="http://schemas.openxmlformats.org/officeDocument/2006/relationships/extended-properties" Target="/docProps/app.xml" Id="R99ec04a5bdb14156" /><Relationship Type="http://schemas.openxmlformats.org/officeDocument/2006/relationships/officeDocument" Target="/ppt/presentation.xml" Id="R66a469597b1a46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b2cde46ec54706"/>
  </p:sldMasterIdLst>
  <p:notesMasterIdLst>
    <p:notesMasterId xmlns:r="http://schemas.openxmlformats.org/officeDocument/2006/relationships" r:id="R7ab23ad4926642e7"/>
  </p:notesMasterIdLst>
  <p:sldIdLst>
    <p:sldId xmlns:r="http://schemas.openxmlformats.org/officeDocument/2006/relationships" id="256" r:id="R848fb067ba72495a"/>
    <p:sldId xmlns:r="http://schemas.openxmlformats.org/officeDocument/2006/relationships" id="257" r:id="Rf70e9b0193054560"/>
    <p:sldId xmlns:r="http://schemas.openxmlformats.org/officeDocument/2006/relationships" id="258" r:id="Rda6a61e55f484304"/>
    <p:sldId xmlns:r="http://schemas.openxmlformats.org/officeDocument/2006/relationships" id="259" r:id="Rbd8929cb64e84895"/>
    <p:sldId xmlns:r="http://schemas.openxmlformats.org/officeDocument/2006/relationships" id="260" r:id="Re091e9ea37674865"/>
    <p:sldId xmlns:r="http://schemas.openxmlformats.org/officeDocument/2006/relationships" id="261" r:id="Rf05a8e1f99fe43bb"/>
    <p:sldId xmlns:r="http://schemas.openxmlformats.org/officeDocument/2006/relationships" id="262" r:id="R078422d9ed51414b"/>
    <p:sldId xmlns:r="http://schemas.openxmlformats.org/officeDocument/2006/relationships" id="263" r:id="R61a5b35536b44e07"/>
    <p:sldId xmlns:r="http://schemas.openxmlformats.org/officeDocument/2006/relationships" id="264" r:id="Rd806d6d538e04deb"/>
    <p:sldId xmlns:r="http://schemas.openxmlformats.org/officeDocument/2006/relationships" id="265" r:id="Re0266d09eb3147ae"/>
    <p:sldId xmlns:r="http://schemas.openxmlformats.org/officeDocument/2006/relationships" id="266" r:id="R1a2948d49ea74222"/>
    <p:sldId xmlns:r="http://schemas.openxmlformats.org/officeDocument/2006/relationships" id="267" r:id="Rf6887a59c2c64d34"/>
    <p:sldId xmlns:r="http://schemas.openxmlformats.org/officeDocument/2006/relationships" id="268" r:id="R9250586d3ea149af"/>
    <p:sldId xmlns:r="http://schemas.openxmlformats.org/officeDocument/2006/relationships" id="269" r:id="R13140048b2564adc"/>
    <p:sldId xmlns:r="http://schemas.openxmlformats.org/officeDocument/2006/relationships" id="270" r:id="Rcfdd47f8c7264954"/>
    <p:sldId xmlns:r="http://schemas.openxmlformats.org/officeDocument/2006/relationships" id="271" r:id="R8e493c1443f2411f"/>
    <p:sldId xmlns:r="http://schemas.openxmlformats.org/officeDocument/2006/relationships" id="272" r:id="R6eebcdaa5b2b484f"/>
    <p:sldId xmlns:r="http://schemas.openxmlformats.org/officeDocument/2006/relationships" id="273" r:id="R535e130532de466d"/>
    <p:sldId xmlns:r="http://schemas.openxmlformats.org/officeDocument/2006/relationships" id="274" r:id="R6831948fc30b472d"/>
    <p:sldId xmlns:r="http://schemas.openxmlformats.org/officeDocument/2006/relationships" id="275" r:id="R935c055502ef4847"/>
    <p:sldId xmlns:r="http://schemas.openxmlformats.org/officeDocument/2006/relationships" id="276" r:id="Rad49d9867ccc435d"/>
    <p:sldId xmlns:r="http://schemas.openxmlformats.org/officeDocument/2006/relationships" id="277" r:id="R7a99a47fd4094a46"/>
    <p:sldId xmlns:r="http://schemas.openxmlformats.org/officeDocument/2006/relationships" id="278" r:id="R04b33bebe60b4c99"/>
    <p:sldId xmlns:r="http://schemas.openxmlformats.org/officeDocument/2006/relationships" id="279" r:id="Re4cae4387a36466e"/>
    <p:sldId xmlns:r="http://schemas.openxmlformats.org/officeDocument/2006/relationships" id="280" r:id="Ra96d8f4b9d864153"/>
    <p:sldId xmlns:r="http://schemas.openxmlformats.org/officeDocument/2006/relationships" id="281" r:id="R800be18d400b4679"/>
    <p:sldId xmlns:r="http://schemas.openxmlformats.org/officeDocument/2006/relationships" id="282" r:id="Rddb6a731e6bb4560"/>
    <p:sldId xmlns:r="http://schemas.openxmlformats.org/officeDocument/2006/relationships" id="283" r:id="R9131cb53503f4c65"/>
    <p:sldId xmlns:r="http://schemas.openxmlformats.org/officeDocument/2006/relationships" id="284" r:id="R494a26d305cc4817"/>
    <p:sldId xmlns:r="http://schemas.openxmlformats.org/officeDocument/2006/relationships" id="285" r:id="R1fcbfbf49d144bac"/>
    <p:sldId xmlns:r="http://schemas.openxmlformats.org/officeDocument/2006/relationships" id="286" r:id="R4a238d5e05274c7b"/>
    <p:sldId xmlns:r="http://schemas.openxmlformats.org/officeDocument/2006/relationships" id="287" r:id="R4d43b4a0a32e4feb"/>
    <p:sldId xmlns:r="http://schemas.openxmlformats.org/officeDocument/2006/relationships" id="288" r:id="Rd987d97428bc4b4a"/>
    <p:sldId xmlns:r="http://schemas.openxmlformats.org/officeDocument/2006/relationships" id="289" r:id="Race0510b81fc4c48"/>
    <p:sldId xmlns:r="http://schemas.openxmlformats.org/officeDocument/2006/relationships" id="290" r:id="R40e82326dc034f99"/>
    <p:sldId xmlns:r="http://schemas.openxmlformats.org/officeDocument/2006/relationships" id="291" r:id="Rf9fd89178c83427d"/>
    <p:sldId xmlns:r="http://schemas.openxmlformats.org/officeDocument/2006/relationships" id="292" r:id="R242cbaedc8ba4dfe"/>
    <p:sldId xmlns:r="http://schemas.openxmlformats.org/officeDocument/2006/relationships" id="293" r:id="Rc5df398d076741a5"/>
    <p:sldId xmlns:r="http://schemas.openxmlformats.org/officeDocument/2006/relationships" id="294" r:id="R8abe2b1e64334987"/>
    <p:sldId xmlns:r="http://schemas.openxmlformats.org/officeDocument/2006/relationships" id="295" r:id="R1270957bfb744fe7"/>
    <p:sldId xmlns:r="http://schemas.openxmlformats.org/officeDocument/2006/relationships" id="296" r:id="Rdd27f2ba86f2457d"/>
    <p:sldId xmlns:r="http://schemas.openxmlformats.org/officeDocument/2006/relationships" id="297" r:id="Rf0c893e0e3d14708"/>
    <p:sldId xmlns:r="http://schemas.openxmlformats.org/officeDocument/2006/relationships" id="298" r:id="R9bc0f93acc934070"/>
    <p:sldId xmlns:r="http://schemas.openxmlformats.org/officeDocument/2006/relationships" id="299" r:id="R237ec43ac18e43d1"/>
    <p:sldId xmlns:r="http://schemas.openxmlformats.org/officeDocument/2006/relationships" id="300" r:id="Rcd540d9f087a49a5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77757da2254825" /><Relationship Type="http://schemas.openxmlformats.org/officeDocument/2006/relationships/slideMaster" Target="/ppt/slideMasters/slideMaster1.xml" Id="R83b2cde46ec54706" /><Relationship Type="http://schemas.openxmlformats.org/officeDocument/2006/relationships/notesMaster" Target="/ppt/notesMasters/notesMaster1.xml" Id="R7ab23ad4926642e7" /><Relationship Type="http://schemas.openxmlformats.org/officeDocument/2006/relationships/presProps" Target="/ppt/presProps.xml" Id="R459d31de253f4b48" /><Relationship Type="http://schemas.openxmlformats.org/officeDocument/2006/relationships/tableStyles" Target="/ppt/tableStyles.xml" Id="Ra406ac95c7cc4f23" /><Relationship Type="http://schemas.openxmlformats.org/officeDocument/2006/relationships/slide" Target="/ppt/slides/slide1.xml" Id="R848fb067ba72495a" /><Relationship Type="http://schemas.openxmlformats.org/officeDocument/2006/relationships/slide" Target="/ppt/slides/slide2.xml" Id="Rf70e9b0193054560" /><Relationship Type="http://schemas.openxmlformats.org/officeDocument/2006/relationships/slide" Target="/ppt/slides/slide3.xml" Id="Rda6a61e55f484304" /><Relationship Type="http://schemas.openxmlformats.org/officeDocument/2006/relationships/slide" Target="/ppt/slides/slide4.xml" Id="Rbd8929cb64e84895" /><Relationship Type="http://schemas.openxmlformats.org/officeDocument/2006/relationships/slide" Target="/ppt/slides/slide5.xml" Id="Re091e9ea37674865" /><Relationship Type="http://schemas.openxmlformats.org/officeDocument/2006/relationships/slide" Target="/ppt/slides/slide6.xml" Id="Rf05a8e1f99fe43bb" /><Relationship Type="http://schemas.openxmlformats.org/officeDocument/2006/relationships/slide" Target="/ppt/slides/slide7.xml" Id="R078422d9ed51414b" /><Relationship Type="http://schemas.openxmlformats.org/officeDocument/2006/relationships/slide" Target="/ppt/slides/slide8.xml" Id="R61a5b35536b44e07" /><Relationship Type="http://schemas.openxmlformats.org/officeDocument/2006/relationships/slide" Target="/ppt/slides/slide9.xml" Id="Rd806d6d538e04deb" /><Relationship Type="http://schemas.openxmlformats.org/officeDocument/2006/relationships/slide" Target="/ppt/slides/slide10.xml" Id="Re0266d09eb3147ae" /><Relationship Type="http://schemas.openxmlformats.org/officeDocument/2006/relationships/slide" Target="/ppt/slides/slide11.xml" Id="R1a2948d49ea74222" /><Relationship Type="http://schemas.openxmlformats.org/officeDocument/2006/relationships/slide" Target="/ppt/slides/slide12.xml" Id="Rf6887a59c2c64d34" /><Relationship Type="http://schemas.openxmlformats.org/officeDocument/2006/relationships/slide" Target="/ppt/slides/slide13.xml" Id="R9250586d3ea149af" /><Relationship Type="http://schemas.openxmlformats.org/officeDocument/2006/relationships/slide" Target="/ppt/slides/slide14.xml" Id="R13140048b2564adc" /><Relationship Type="http://schemas.openxmlformats.org/officeDocument/2006/relationships/slide" Target="/ppt/slides/slide15.xml" Id="Rcfdd47f8c7264954" /><Relationship Type="http://schemas.openxmlformats.org/officeDocument/2006/relationships/slide" Target="/ppt/slides/slide16.xml" Id="R8e493c1443f2411f" /><Relationship Type="http://schemas.openxmlformats.org/officeDocument/2006/relationships/slide" Target="/ppt/slides/slide17.xml" Id="R6eebcdaa5b2b484f" /><Relationship Type="http://schemas.openxmlformats.org/officeDocument/2006/relationships/slide" Target="/ppt/slides/slide18.xml" Id="R535e130532de466d" /><Relationship Type="http://schemas.openxmlformats.org/officeDocument/2006/relationships/slide" Target="/ppt/slides/slide19.xml" Id="R6831948fc30b472d" /><Relationship Type="http://schemas.openxmlformats.org/officeDocument/2006/relationships/slide" Target="/ppt/slides/slide20.xml" Id="R935c055502ef4847" /><Relationship Type="http://schemas.openxmlformats.org/officeDocument/2006/relationships/slide" Target="/ppt/slides/slide21.xml" Id="Rad49d9867ccc435d" /><Relationship Type="http://schemas.openxmlformats.org/officeDocument/2006/relationships/slide" Target="/ppt/slides/slide22.xml" Id="R7a99a47fd4094a46" /><Relationship Type="http://schemas.openxmlformats.org/officeDocument/2006/relationships/slide" Target="/ppt/slides/slide23.xml" Id="R04b33bebe60b4c99" /><Relationship Type="http://schemas.openxmlformats.org/officeDocument/2006/relationships/slide" Target="/ppt/slides/slide24.xml" Id="Re4cae4387a36466e" /><Relationship Type="http://schemas.openxmlformats.org/officeDocument/2006/relationships/slide" Target="/ppt/slides/slide25.xml" Id="Ra96d8f4b9d864153" /><Relationship Type="http://schemas.openxmlformats.org/officeDocument/2006/relationships/slide" Target="/ppt/slides/slide26.xml" Id="R800be18d400b4679" /><Relationship Type="http://schemas.openxmlformats.org/officeDocument/2006/relationships/slide" Target="/ppt/slides/slide27.xml" Id="Rddb6a731e6bb4560" /><Relationship Type="http://schemas.openxmlformats.org/officeDocument/2006/relationships/slide" Target="/ppt/slides/slide28.xml" Id="R9131cb53503f4c65" /><Relationship Type="http://schemas.openxmlformats.org/officeDocument/2006/relationships/slide" Target="/ppt/slides/slide29.xml" Id="R494a26d305cc4817" /><Relationship Type="http://schemas.openxmlformats.org/officeDocument/2006/relationships/slide" Target="/ppt/slides/slide30.xml" Id="R1fcbfbf49d144bac" /><Relationship Type="http://schemas.openxmlformats.org/officeDocument/2006/relationships/slide" Target="/ppt/slides/slide31.xml" Id="R4a238d5e05274c7b" /><Relationship Type="http://schemas.openxmlformats.org/officeDocument/2006/relationships/slide" Target="/ppt/slides/slide32.xml" Id="R4d43b4a0a32e4feb" /><Relationship Type="http://schemas.openxmlformats.org/officeDocument/2006/relationships/slide" Target="/ppt/slides/slide33.xml" Id="Rd987d97428bc4b4a" /><Relationship Type="http://schemas.openxmlformats.org/officeDocument/2006/relationships/slide" Target="/ppt/slides/slide34.xml" Id="Race0510b81fc4c48" /><Relationship Type="http://schemas.openxmlformats.org/officeDocument/2006/relationships/slide" Target="/ppt/slides/slide35.xml" Id="R40e82326dc034f99" /><Relationship Type="http://schemas.openxmlformats.org/officeDocument/2006/relationships/slide" Target="/ppt/slides/slide36.xml" Id="Rf9fd89178c83427d" /><Relationship Type="http://schemas.openxmlformats.org/officeDocument/2006/relationships/slide" Target="/ppt/slides/slide37.xml" Id="R242cbaedc8ba4dfe" /><Relationship Type="http://schemas.openxmlformats.org/officeDocument/2006/relationships/slide" Target="/ppt/slides/slide38.xml" Id="Rc5df398d076741a5" /><Relationship Type="http://schemas.openxmlformats.org/officeDocument/2006/relationships/slide" Target="/ppt/slides/slide39.xml" Id="R8abe2b1e64334987" /><Relationship Type="http://schemas.openxmlformats.org/officeDocument/2006/relationships/slide" Target="/ppt/slides/slide40.xml" Id="R1270957bfb744fe7" /><Relationship Type="http://schemas.openxmlformats.org/officeDocument/2006/relationships/slide" Target="/ppt/slides/slide41.xml" Id="Rdd27f2ba86f2457d" /><Relationship Type="http://schemas.openxmlformats.org/officeDocument/2006/relationships/slide" Target="/ppt/slides/slide42.xml" Id="Rf0c893e0e3d14708" /><Relationship Type="http://schemas.openxmlformats.org/officeDocument/2006/relationships/slide" Target="/ppt/slides/slide43.xml" Id="R9bc0f93acc934070" /><Relationship Type="http://schemas.openxmlformats.org/officeDocument/2006/relationships/slide" Target="/ppt/slides/slide44.xml" Id="R237ec43ac18e43d1" /><Relationship Type="http://schemas.openxmlformats.org/officeDocument/2006/relationships/slide" Target="/ppt/slides/slide45.xml" Id="Rcd540d9f087a49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1b6c9d71b142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7337a3d9fc411f" /><Relationship Type="http://schemas.openxmlformats.org/officeDocument/2006/relationships/notesMaster" Target="/ppt/notesMasters/notesMaster1.xml" Id="R3fe10608958d45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50f88f7b474685" /><Relationship Type="http://schemas.openxmlformats.org/officeDocument/2006/relationships/notesMaster" Target="/ppt/notesMasters/notesMaster1.xml" Id="R6afb27674cd345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50c9a1febf4ba5" /><Relationship Type="http://schemas.openxmlformats.org/officeDocument/2006/relationships/notesMaster" Target="/ppt/notesMasters/notesMaster1.xml" Id="R2cc7b4f077fb4f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207bcca2eb4fce" /><Relationship Type="http://schemas.openxmlformats.org/officeDocument/2006/relationships/notesMaster" Target="/ppt/notesMasters/notesMaster1.xml" Id="Rcae0398aa56c40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d091c07d784d82" /><Relationship Type="http://schemas.openxmlformats.org/officeDocument/2006/relationships/notesMaster" Target="/ppt/notesMasters/notesMaster1.xml" Id="Rf9dcb763d4dd4e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22f84adbec4df2" /><Relationship Type="http://schemas.openxmlformats.org/officeDocument/2006/relationships/notesMaster" Target="/ppt/notesMasters/notesMaster1.xml" Id="R81c96b0afc194f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87cdb6378a41cc" /><Relationship Type="http://schemas.openxmlformats.org/officeDocument/2006/relationships/notesMaster" Target="/ppt/notesMasters/notesMaster1.xml" Id="R1b72811f912d48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8484d82f1a4965" /><Relationship Type="http://schemas.openxmlformats.org/officeDocument/2006/relationships/notesMaster" Target="/ppt/notesMasters/notesMaster1.xml" Id="R2c1ec65acea446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512383ac334e41" /><Relationship Type="http://schemas.openxmlformats.org/officeDocument/2006/relationships/notesMaster" Target="/ppt/notesMasters/notesMaster1.xml" Id="Rfed30b68423742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8628cd12814a7e" /><Relationship Type="http://schemas.openxmlformats.org/officeDocument/2006/relationships/notesMaster" Target="/ppt/notesMasters/notesMaster1.xml" Id="R0da3d613ad0d41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a0bf0eb29b4bc9" /><Relationship Type="http://schemas.openxmlformats.org/officeDocument/2006/relationships/notesMaster" Target="/ppt/notesMasters/notesMaster1.xml" Id="R68505571cb4340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91ca89472e43d2" /><Relationship Type="http://schemas.openxmlformats.org/officeDocument/2006/relationships/notesMaster" Target="/ppt/notesMasters/notesMaster1.xml" Id="Re9d04b6a8e9441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79d50d5c36458b" /><Relationship Type="http://schemas.openxmlformats.org/officeDocument/2006/relationships/notesMaster" Target="/ppt/notesMasters/notesMaster1.xml" Id="Rb11ff126daf046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670655fde14a2e" /><Relationship Type="http://schemas.openxmlformats.org/officeDocument/2006/relationships/notesMaster" Target="/ppt/notesMasters/notesMaster1.xml" Id="R73bc8b35c1c948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14e74817274a4e" /><Relationship Type="http://schemas.openxmlformats.org/officeDocument/2006/relationships/notesMaster" Target="/ppt/notesMasters/notesMaster1.xml" Id="R7b13d6fb98b047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ac397b6eb04fa1" /><Relationship Type="http://schemas.openxmlformats.org/officeDocument/2006/relationships/notesMaster" Target="/ppt/notesMasters/notesMaster1.xml" Id="Rae5164dde50846f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7ce002fbd34257" /><Relationship Type="http://schemas.openxmlformats.org/officeDocument/2006/relationships/notesMaster" Target="/ppt/notesMasters/notesMaster1.xml" Id="Ree8d301251c34d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1e3dbec83e4fe4" /><Relationship Type="http://schemas.openxmlformats.org/officeDocument/2006/relationships/notesMaster" Target="/ppt/notesMasters/notesMaster1.xml" Id="R06c5f77b74e14f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99c8c2c9fc4f5c" /><Relationship Type="http://schemas.openxmlformats.org/officeDocument/2006/relationships/notesMaster" Target="/ppt/notesMasters/notesMaster1.xml" Id="R76ba410272e24d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42a9022077495f" /><Relationship Type="http://schemas.openxmlformats.org/officeDocument/2006/relationships/notesMaster" Target="/ppt/notesMasters/notesMaster1.xml" Id="R4c6ecc4fc952471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ad9afce6994490" /><Relationship Type="http://schemas.openxmlformats.org/officeDocument/2006/relationships/notesMaster" Target="/ppt/notesMasters/notesMaster1.xml" Id="Rd02a0cf6eba8447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214cefdb92f4e73" /><Relationship Type="http://schemas.openxmlformats.org/officeDocument/2006/relationships/notesMaster" Target="/ppt/notesMasters/notesMaster1.xml" Id="Rf50c4ef7f96140a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15f485d2a5a4a9f" /><Relationship Type="http://schemas.openxmlformats.org/officeDocument/2006/relationships/notesMaster" Target="/ppt/notesMasters/notesMaster1.xml" Id="R8ea91f7064db415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cf187662003474c" /><Relationship Type="http://schemas.openxmlformats.org/officeDocument/2006/relationships/notesMaster" Target="/ppt/notesMasters/notesMaster1.xml" Id="R8fae44657008441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419fb1122544d7" /><Relationship Type="http://schemas.openxmlformats.org/officeDocument/2006/relationships/notesMaster" Target="/ppt/notesMasters/notesMaster1.xml" Id="Rd546f300d61542b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cd8e49e1c044bd6" /><Relationship Type="http://schemas.openxmlformats.org/officeDocument/2006/relationships/notesMaster" Target="/ppt/notesMasters/notesMaster1.xml" Id="Raa5fe2f81e5b46d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9d00337cff24ac6" /><Relationship Type="http://schemas.openxmlformats.org/officeDocument/2006/relationships/notesMaster" Target="/ppt/notesMasters/notesMaster1.xml" Id="R460e8be5926e449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d4b50c6b44c4934" /><Relationship Type="http://schemas.openxmlformats.org/officeDocument/2006/relationships/notesMaster" Target="/ppt/notesMasters/notesMaster1.xml" Id="R3df76164ecce49a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31936f9ea0642f5" /><Relationship Type="http://schemas.openxmlformats.org/officeDocument/2006/relationships/notesMaster" Target="/ppt/notesMasters/notesMaster1.xml" Id="Rfe576d089fa34de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69df17e83d5419e" /><Relationship Type="http://schemas.openxmlformats.org/officeDocument/2006/relationships/notesMaster" Target="/ppt/notesMasters/notesMaster1.xml" Id="R4a856d383d104de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340e5f398fc466a" /><Relationship Type="http://schemas.openxmlformats.org/officeDocument/2006/relationships/notesMaster" Target="/ppt/notesMasters/notesMaster1.xml" Id="Rb475ba0d1f184ff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2ca0f871efd44a4" /><Relationship Type="http://schemas.openxmlformats.org/officeDocument/2006/relationships/notesMaster" Target="/ppt/notesMasters/notesMaster1.xml" Id="Re43251486cd64d3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93fda840cb84ae6" /><Relationship Type="http://schemas.openxmlformats.org/officeDocument/2006/relationships/notesMaster" Target="/ppt/notesMasters/notesMaster1.xml" Id="R696f96be00c54f6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763cdf01f56485f" /><Relationship Type="http://schemas.openxmlformats.org/officeDocument/2006/relationships/notesMaster" Target="/ppt/notesMasters/notesMaster1.xml" Id="R2340ef55f63448e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114025698684aa4" /><Relationship Type="http://schemas.openxmlformats.org/officeDocument/2006/relationships/notesMaster" Target="/ppt/notesMasters/notesMaster1.xml" Id="Rfa46b9b3e3c447d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01df8e504a24a98" /><Relationship Type="http://schemas.openxmlformats.org/officeDocument/2006/relationships/notesMaster" Target="/ppt/notesMasters/notesMaster1.xml" Id="R5ca3b2e570ec40f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f0fc0e7b5d44c6f" /><Relationship Type="http://schemas.openxmlformats.org/officeDocument/2006/relationships/notesMaster" Target="/ppt/notesMasters/notesMaster1.xml" Id="Rfb6a246eb7ce4fe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5ee35673a2a4c66" /><Relationship Type="http://schemas.openxmlformats.org/officeDocument/2006/relationships/notesMaster" Target="/ppt/notesMasters/notesMaster1.xml" Id="R60a1a8a94df845d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ff8018572fd4433" /><Relationship Type="http://schemas.openxmlformats.org/officeDocument/2006/relationships/notesMaster" Target="/ppt/notesMasters/notesMaster1.xml" Id="R7e5aac5e1278437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7cbe33d1496424a" /><Relationship Type="http://schemas.openxmlformats.org/officeDocument/2006/relationships/notesMaster" Target="/ppt/notesMasters/notesMaster1.xml" Id="Rbebf96de57fd437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9a3b3e069f24c7b" /><Relationship Type="http://schemas.openxmlformats.org/officeDocument/2006/relationships/notesMaster" Target="/ppt/notesMasters/notesMaster1.xml" Id="Ra68a07060fc645c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386b122ae8c44c6" /><Relationship Type="http://schemas.openxmlformats.org/officeDocument/2006/relationships/notesMaster" Target="/ppt/notesMasters/notesMaster1.xml" Id="R1fbc221158aa4c4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350f82939724bbf" /><Relationship Type="http://schemas.openxmlformats.org/officeDocument/2006/relationships/notesMaster" Target="/ppt/notesMasters/notesMaster1.xml" Id="R9531e382a01844d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267b8b50f534f1c" /><Relationship Type="http://schemas.openxmlformats.org/officeDocument/2006/relationships/notesMaster" Target="/ppt/notesMasters/notesMaster1.xml" Id="Rc82beccd7abc4fd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a8a19d8073e48d8" /><Relationship Type="http://schemas.openxmlformats.org/officeDocument/2006/relationships/notesMaster" Target="/ppt/notesMasters/notesMaster1.xml" Id="R18fbffa3f29244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title slide and project brief</a:t>
            </a:r>
          </a:p>
          <a:p xmlns:a="http://schemas.openxmlformats.org/drawingml/2006/main">
            <a:r>
              <a:t>Final review. Preserve team and guide identities from the supplied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slides 2–7; data/processed/tpa_pet_ml_confirmed.csv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scripts/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reports/results/served_model_audit/README.md;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https://github.com/HySonLab/Directed_Evolution; https://ieeexplore.ieee.org/document/10443319/</a:t>
            </a:r>
          </a:p>
          <a:p xmlns:a="http://schemas.openxmlformats.org/drawingml/2006/main">
            <a:r>
              <a:t>Hong title corrected to Artificial Intelligence. Bibliographic details retained from the source deck; full paper access was limited.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https://doi.org/10.1126/science.ade2574; https://doi.org/10.1073/pnas.2016239118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brief;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master_dataset.csv; reports/results/tpa_provenance_audit_summary.json; reports/results/fireprotdb_analysis.json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master_dataset.csv; data/processed/tpa_pet_ml_confirmed.csv; reports/results/tpa_provenance_audit_summary.json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reports/results/tpa_confirmed_dataset_summary.json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reports/results/tpa_confirmed_dataset_summary.json; reports/results/tpa_ambiguous_review.md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reports/results/repeated_condition_variability.json; data/processed/tpa_pet_ml_confirmed.csv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reports/results/feature_eligibility_audit.csv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reports/results/research_feature_matrix_summary.json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scripts/run_controlled_ablation.py; backend/app/services/esm_encoder.py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backend/app/services/esm_encoder.py; data/embeddings/index.json; reports/results/research_feature_matrix_summary.json</a:t>
            </a:r>
          </a:p>
          <a:p xmlns:a="http://schemas.openxmlformats.org/drawingml/2006/main">
            <a:r>
              <a:t>Current implementation pools all attention-mask tokens, including special tokens; it truncates at 1024 tokens. Existing vectors reused, no regeneration.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backend/app/services/esm_encoder.py; reports/results/controlled_ablation_results.csv; scripts/run_controlled_ablation.py</a:t>
            </a:r>
          </a:p>
          <a:p xmlns:a="http://schemas.openxmlformats.org/drawingml/2006/main">
            <a:r>
              <a:t>m_i is 1 for attended tokens. This corrects the brief’s residue-only pooling description to match the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Ridge fits an intercept by default. The objective uses transformed training targets. log1p itself has no fitted parameters, but is applied within the fold training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Arithmetic means of fold metrics. B Spearman excludes undefined fold 1 and uses four defined folds; all other displayed means use five folds. These are not pooled OOF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Editable chart generated from actual CSV fold means. No synthetic metric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reports/results/ablation_error_analysis/actual_vs_predicted.png; reports/results/ablation_error_analysis/ablation_error_analysis_report.md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reports/results/ablation_error_analysis/targeted_audit/targeted_audit_report.md</a:t>
            </a:r>
          </a:p>
          <a:p xmlns:a="http://schemas.openxmlformats.org/drawingml/2006/main">
            <a:r>
              <a:t>The targeted report contains a conflicting B fold-1 constant value. That constant is omitted. Controlled metrics are taken directly from the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reports/results/model_comparison_results.json; reports/results/protein_balance_sensitivity.md; reports/results/repeated_condition_variability.json</a:t>
            </a:r>
          </a:p>
          <a:p xmlns:a="http://schemas.openxmlformats.org/drawingml/2006/main">
            <a:r>
              <a:t>These follow-up experiments differ from the fixed A/B/C ablation. No production model selection or deployment follows from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backend/app/api/routes.py; backend/app/services/; frontend/src/App.jsx; reports/results/served_model_audit/README.md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reports/results/served_model_audit/README.md; models/model_config.json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reports/results/served_model_audit/live_api_prediction.json; reports/results/served_model_audit/prediction_comparison.json</a:t>
            </a:r>
          </a:p>
          <a:p xmlns:a="http://schemas.openxmlformats.org/drawingml/2006/main">
            <a:r>
              <a:t>Saved API output from the 2026-09-28 audit, not a newly run inference or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 31</a:t>
            </a:r>
          </a:p>
          <a:p xmlns:a="http://schemas.openxmlformats.org/drawingml/2006/main">
            <a:r>
              <a:t>Historical prototype documentation. The formula is preserved for context, not claimed as the current learned predictor.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 32; reports/results/fireprotdb_analysis.json</a:t>
            </a:r>
          </a:p>
          <a:p xmlns:a="http://schemas.openxmlformats.org/drawingml/2006/main">
            <a:r>
              <a:t>Current EnzAIme_ML routes do not expose a mutation endpoint. Historical implementation claims are not carried into the present ML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reports/results/; backend/app/; frontend/src/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backend/app/; frontend/src/; scripts/; tests/test_legacy_evidence_integration.py; reports/results/served_model_audit/README.md</a:t>
            </a:r>
          </a:p>
          <a:p xmlns:a="http://schemas.openxmlformats.org/drawingml/2006/main">
            <a:r>
              <a:t>No existing application tests were rerun for this presentation-only edit. The old 54-test assertion and clean-install claim are not supported for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reports/results/controlled_ablation_results.csv; scripts/run_controlled_ablation.py; reports/results/served_model_audit/README.md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proposed architecture and user brief</a:t>
            </a:r>
          </a:p>
          <a:p xmlns:a="http://schemas.openxmlformats.org/drawingml/2006/main">
            <a:r>
              <a:t>PROPOSED / FUTURE ARCHITECTURE. This diagram is a roadmap, not a claim that its modules are trained.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slides 14–22; https://github.com/HySonLab/Directed_Evolution</a:t>
            </a:r>
          </a:p>
          <a:p xmlns:a="http://schemas.openxmlformats.org/drawingml/2006/main">
            <a:r>
              <a:t>Proposal adapted from literature. No current EnzAIme condition-aware neural oracle has been established as trained.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 updated against existing reports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brief; repository artifacts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reports/results/controlled_ablation_results.csv; scripts/run_controlled_ablation.py; reports/results/ablation_error_analysis/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Bibliographic references and local project evidence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closing slide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8ce770f3c48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b5a3164994a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b54e8cc9042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8f22d15cb44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97ad5151642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46e41d8754b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4CBA3E-36F4-45A8-895F-F58CDC5776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D734C9-82F8-402F-BCFE-39910F1F69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85C1A0-7D22-4B6A-BB19-EFC9D7A9F8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8B63DA-4721-46EA-BF2C-BCE64B56A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ED79DF-B1F7-48AD-89B4-54CB8D9C8B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1D8B04-E743-4B70-BC45-37C62C85F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564327-F7E0-4563-BDBB-F0B63166DA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4E3CFE2-F893-4F43-A83C-209AC83EE0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B91DAE-2AE7-4104-B900-78D1061A80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404E9A-A5B3-44E3-9989-04AA908DD9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48dba089abd44163"/><Relationship Type="http://schemas.openxmlformats.org/officeDocument/2006/relationships/slideLayout" Target="/ppt/slideLayouts/slideLayout1.xml" Id="Rb22be150765d48f5"/><Relationship Type="http://schemas.openxmlformats.org/officeDocument/2006/relationships/slideLayout" Target="/ppt/slideLayouts/slideLayout2.xml" Id="R35534fc5038c486f"/><Relationship Type="http://schemas.openxmlformats.org/officeDocument/2006/relationships/slideLayout" Target="/ppt/slideLayouts/slideLayout3.xml" Id="R311fef753df44a35"/><Relationship Type="http://schemas.openxmlformats.org/officeDocument/2006/relationships/slideLayout" Target="/ppt/slideLayouts/slideLayout4.xml" Id="R7236482a5bcb4e2c"/><Relationship Type="http://schemas.openxmlformats.org/officeDocument/2006/relationships/slideLayout" Target="/ppt/slideLayouts/slideLayout5.xml" Id="R0b13b925576e4b77"/><Relationship Type="http://schemas.openxmlformats.org/officeDocument/2006/relationships/slideLayout" Target="/ppt/slideLayouts/slideLayout6.xml" Id="Racb6b3cc62be422c"/><Relationship Id="rIdSourceTemplate" Type="http://schemas.openxmlformats.org/officeDocument/2006/relationships/image" Target="../media/source_college_template.jpeg"/></Relationships>
</file>

<file path=ppt/slideMasters/slideMaster1.xml><?xml version="1.0" encoding="utf-8"?>
<p:sldMaster xmlns:p="http://schemas.openxmlformats.org/presentationml/2006/main">
  <p:cSld name="Master">
    <p:bg xmlns:a="http://schemas.openxmlformats.org/drawingml/2006/main" xmlns:r="http://schemas.openxmlformats.org/officeDocument/2006/relationships">
      <p:bgPr>
        <a:blipFill rotWithShape="1">
          <a:blip r:embed="rIdSourceTemplat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900" name="Text Box 10"/>
          <p:cNvSpPr txBox="1"/>
          <p:nvPr/>
        </p:nvSpPr>
        <p:spPr>
          <a:xfrm>
            <a:off x="914400" y="6324479"/>
            <a:ext cx="2809082" cy="28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6799" tIns="46799" rIns="46799" bIns="46799">
            <a:spAutoFit/>
          </a:bodyPr>
          <a:lstStyle>
            <a:lvl1pPr indent="457200"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1" spc="-1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marL="0" indent="0">
              <a:buNone/>
            </a:pPr>
            <a:r>
              <a:t>October 1, 2026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2be150765d48f5"/>
    <p:sldLayoutId xmlns:r="http://schemas.openxmlformats.org/officeDocument/2006/relationships" id="2147483650" r:id="R35534fc5038c486f"/>
    <p:sldLayoutId xmlns:r="http://schemas.openxmlformats.org/officeDocument/2006/relationships" id="2147483651" r:id="R311fef753df44a35"/>
    <p:sldLayoutId xmlns:r="http://schemas.openxmlformats.org/officeDocument/2006/relationships" id="2147483652" r:id="R7236482a5bcb4e2c"/>
    <p:sldLayoutId xmlns:r="http://schemas.openxmlformats.org/officeDocument/2006/relationships" id="2147483653" r:id="R0b13b925576e4b77"/>
    <p:sldLayoutId xmlns:r="http://schemas.openxmlformats.org/officeDocument/2006/relationships" id="2147483654" r:id="Racb6b3cc62be42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4c657bef84bce" /><Relationship Type="http://schemas.openxmlformats.org/officeDocument/2006/relationships/notesSlide" Target="/ppt/notesSlides/notesSlide1.xml" Id="R38295c1e52a043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f1da8b3b843d0" /><Relationship Type="http://schemas.openxmlformats.org/officeDocument/2006/relationships/notesSlide" Target="/ppt/notesSlides/notesSlide2.xml" Id="Rc62baff03eed42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4432af70c4c20" /><Relationship Type="http://schemas.openxmlformats.org/officeDocument/2006/relationships/notesSlide" Target="/ppt/notesSlides/notesSlide3.xml" Id="Rbd1dec394d2a40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5bccf94aa44a75" /><Relationship Type="http://schemas.openxmlformats.org/officeDocument/2006/relationships/notesSlide" Target="/ppt/notesSlides/notesSlide4.xml" Id="R11591bb8f78247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2ec7c58ad49ea" /><Relationship Type="http://schemas.openxmlformats.org/officeDocument/2006/relationships/notesSlide" Target="/ppt/notesSlides/notesSlide5.xml" Id="R3728005eb6c14e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db6b41157a4e52" /><Relationship Type="http://schemas.openxmlformats.org/officeDocument/2006/relationships/notesSlide" Target="/ppt/notesSlides/notesSlide6.xml" Id="R646d48c0bfe544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299ea55ef7462a" /><Relationship Type="http://schemas.openxmlformats.org/officeDocument/2006/relationships/notesSlide" Target="/ppt/notesSlides/notesSlide7.xml" Id="Rc2c8929da19c41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95b10c7a0457b" /><Relationship Type="http://schemas.openxmlformats.org/officeDocument/2006/relationships/notesSlide" Target="/ppt/notesSlides/notesSlide8.xml" Id="Rd95ce0b6a97a40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f1164bd41c433b" /><Relationship Type="http://schemas.openxmlformats.org/officeDocument/2006/relationships/notesSlide" Target="/ppt/notesSlides/notesSlide9.xml" Id="R12e63a3a7df84f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bf4aa6c4c34ce8" /><Relationship Type="http://schemas.openxmlformats.org/officeDocument/2006/relationships/notesSlide" Target="/ppt/notesSlides/notesSlide10.xml" Id="R30cb4f3b538540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2b21b80d194361" /><Relationship Type="http://schemas.openxmlformats.org/officeDocument/2006/relationships/notesSlide" Target="/ppt/notesSlides/notesSlide11.xml" Id="R175b7b1354d246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5d9611bc4d437a" /><Relationship Type="http://schemas.openxmlformats.org/officeDocument/2006/relationships/notesSlide" Target="/ppt/notesSlides/notesSlide12.xml" Id="R57bac523fe8145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31c6aadcba4d71" /><Relationship Type="http://schemas.openxmlformats.org/officeDocument/2006/relationships/notesSlide" Target="/ppt/notesSlides/notesSlide13.xml" Id="Re4884c17292d43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f663cd12cb4528" /><Relationship Type="http://schemas.openxmlformats.org/officeDocument/2006/relationships/notesSlide" Target="/ppt/notesSlides/notesSlide14.xml" Id="R2e7fb232cbc648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4d5920dda4a95" /><Relationship Type="http://schemas.openxmlformats.org/officeDocument/2006/relationships/notesSlide" Target="/ppt/notesSlides/notesSlide15.xml" Id="Reccfdb5404b94b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62e4c51c647b6" /><Relationship Type="http://schemas.openxmlformats.org/officeDocument/2006/relationships/notesSlide" Target="/ppt/notesSlides/notesSlide16.xml" Id="R99f12a41798c45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ae306a7cc4d2d" /><Relationship Type="http://schemas.openxmlformats.org/officeDocument/2006/relationships/notesSlide" Target="/ppt/notesSlides/notesSlide17.xml" Id="R381b58051e7f45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17869145a49aa" /><Relationship Type="http://schemas.openxmlformats.org/officeDocument/2006/relationships/notesSlide" Target="/ppt/notesSlides/notesSlide18.xml" Id="R2b8b7cc264d94d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725bb2d984fb2" /><Relationship Type="http://schemas.openxmlformats.org/officeDocument/2006/relationships/notesSlide" Target="/ppt/notesSlides/notesSlide19.xml" Id="R979551144f13493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54e4cd796462d" /><Relationship Type="http://schemas.openxmlformats.org/officeDocument/2006/relationships/notesSlide" Target="/ppt/notesSlides/notesSlide20.xml" Id="Rf55f5bd86d504d6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0497ec42e4d8e" /><Relationship Type="http://schemas.openxmlformats.org/officeDocument/2006/relationships/notesSlide" Target="/ppt/notesSlides/notesSlide21.xml" Id="R35ba974b4cef4cd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844d96e8d040e5" /><Relationship Type="http://schemas.openxmlformats.org/officeDocument/2006/relationships/notesSlide" Target="/ppt/notesSlides/notesSlide22.xml" Id="Rcbcc0a4c161f49c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3b855306064fd7" /><Relationship Type="http://schemas.openxmlformats.org/officeDocument/2006/relationships/chart" Target="/ppt/slides/charts/chart1.xml" Id="R16d3f02eaddf472f" /><Relationship Type="http://schemas.openxmlformats.org/officeDocument/2006/relationships/notesSlide" Target="/ppt/notesSlides/notesSlide23.xml" Id="R1c38730477a14ae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2271df1c344db9" /><Relationship Type="http://schemas.openxmlformats.org/officeDocument/2006/relationships/notesSlide" Target="/ppt/notesSlides/notesSlide24.xml" Id="R1842bdea9dd44a7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f8c61078664806" /><Relationship Type="http://schemas.openxmlformats.org/officeDocument/2006/relationships/image" Target="/ppt/media/image.png" Id="R4e05ccfaba6443d7" /><Relationship Type="http://schemas.openxmlformats.org/officeDocument/2006/relationships/notesSlide" Target="/ppt/notesSlides/notesSlide25.xml" Id="R83bb78127eef46b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c8590f18754c3f" /><Relationship Type="http://schemas.openxmlformats.org/officeDocument/2006/relationships/notesSlide" Target="/ppt/notesSlides/notesSlide26.xml" Id="Rf1c8361b9e4548c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9a1dfc4c7748a9" /><Relationship Type="http://schemas.openxmlformats.org/officeDocument/2006/relationships/notesSlide" Target="/ppt/notesSlides/notesSlide27.xml" Id="Rb5f25ce10e2c485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7b2e814984428" /><Relationship Type="http://schemas.openxmlformats.org/officeDocument/2006/relationships/notesSlide" Target="/ppt/notesSlides/notesSlide28.xml" Id="R60813cb50f5549f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d066bd07584baa" /><Relationship Type="http://schemas.openxmlformats.org/officeDocument/2006/relationships/notesSlide" Target="/ppt/notesSlides/notesSlide29.xml" Id="Rfbbe9e235c4049d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0c41b82484c83" /><Relationship Type="http://schemas.openxmlformats.org/officeDocument/2006/relationships/notesSlide" Target="/ppt/notesSlides/notesSlide30.xml" Id="R6407f9df097d433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7d89f9cbb94ef4" /><Relationship Type="http://schemas.openxmlformats.org/officeDocument/2006/relationships/image" Target="/ppt/media/image2.png" Id="R752c64d500824fa8" /><Relationship Type="http://schemas.openxmlformats.org/officeDocument/2006/relationships/notesSlide" Target="/ppt/notesSlides/notesSlide31.xml" Id="Reec588e8d40f439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be8d7da7804135" /><Relationship Type="http://schemas.openxmlformats.org/officeDocument/2006/relationships/image" Target="/ppt/media/image3.png" Id="Rac3b0d8e26d0470e" /><Relationship Type="http://schemas.openxmlformats.org/officeDocument/2006/relationships/notesSlide" Target="/ppt/notesSlides/notesSlide32.xml" Id="R7e7a538cd1be4c8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0e40d4e54f4953" /><Relationship Type="http://schemas.openxmlformats.org/officeDocument/2006/relationships/image" Target="/ppt/media/image4.png" Id="R2c4d4c57c5c649d0" /><Relationship Type="http://schemas.openxmlformats.org/officeDocument/2006/relationships/notesSlide" Target="/ppt/notesSlides/notesSlide33.xml" Id="Rb4edc0c76a2c49e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2a887d9c34884" /><Relationship Type="http://schemas.openxmlformats.org/officeDocument/2006/relationships/notesSlide" Target="/ppt/notesSlides/notesSlide34.xml" Id="Rf6a9e7eaf1aa4a5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c7f99bc834ac3" /><Relationship Type="http://schemas.openxmlformats.org/officeDocument/2006/relationships/notesSlide" Target="/ppt/notesSlides/notesSlide35.xml" Id="Rea3d7b5d619b4f5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ea348e42ba48c3" /><Relationship Type="http://schemas.openxmlformats.org/officeDocument/2006/relationships/notesSlide" Target="/ppt/notesSlides/notesSlide36.xml" Id="R509f77877cde423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4188a7c4b942b1" /><Relationship Type="http://schemas.openxmlformats.org/officeDocument/2006/relationships/notesSlide" Target="/ppt/notesSlides/notesSlide37.xml" Id="R0d222c75338149f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47008565a54150" /><Relationship Type="http://schemas.openxmlformats.org/officeDocument/2006/relationships/notesSlide" Target="/ppt/notesSlides/notesSlide38.xml" Id="R30cb08b56d5945c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26d3baa7c4398" /><Relationship Type="http://schemas.openxmlformats.org/officeDocument/2006/relationships/notesSlide" Target="/ppt/notesSlides/notesSlide39.xml" Id="R32b3bcadbc974b5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ff29181d5e47de" /><Relationship Type="http://schemas.openxmlformats.org/officeDocument/2006/relationships/notesSlide" Target="/ppt/notesSlides/notesSlide40.xml" Id="R5d50352aa5ec429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21669d34694063" /><Relationship Type="http://schemas.openxmlformats.org/officeDocument/2006/relationships/notesSlide" Target="/ppt/notesSlides/notesSlide41.xml" Id="Rd2ac77ad0bb948f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5eafbffeb42db" /><Relationship Type="http://schemas.openxmlformats.org/officeDocument/2006/relationships/notesSlide" Target="/ppt/notesSlides/notesSlide42.xml" Id="R31343de93abd413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405f044364a3e" /><Relationship Type="http://schemas.openxmlformats.org/officeDocument/2006/relationships/notesSlide" Target="/ppt/notesSlides/notesSlide43.xml" Id="Rdb5983bf308345c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eba5637d2f4ecd" /><Relationship Type="http://schemas.openxmlformats.org/officeDocument/2006/relationships/notesSlide" Target="/ppt/notesSlides/notesSlide44.xml" Id="R55b7393a85d544d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40d232e254514" /><Relationship Type="http://schemas.openxmlformats.org/officeDocument/2006/relationships/notesSlide" Target="/ppt/notesSlides/notesSlide45.xml" Id="Rc5cc059b5e4c416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92725F"/>
            </a:solidFill>
          </c:spPr>
          <c:cat>
            <c:strRef>
              <c:f>'Chart Data'!$A$2:$A$4</c:f>
              <c:strCache>
                <c:ptCount val="3"/>
                <c:pt idx="0">
                  <c:v>A Environment</c:v>
                </c:pt>
                <c:pt idx="1">
                  <c:v>B ESM-2</c:v>
                </c:pt>
                <c:pt idx="2">
                  <c:v>C Combined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1423.11</c:v>
                </c:pt>
                <c:pt idx="1">
                  <c:v>1918.29</c:v>
                </c:pt>
                <c:pt idx="2">
                  <c:v>1592.12</c:v>
                </c:pt>
              </c:numCache>
            </c:numRef>
          </c:val>
        </c:ser>
        <c:ser>
          <c:idx val="1"/>
          <c:order val="1"/>
          <c:tx>
            <c:v>RMSE</c:v>
          </c:tx>
          <c:spPr>
            <a:solidFill xmlns:a="http://schemas.openxmlformats.org/drawingml/2006/main">
              <a:srgbClr val="344E54"/>
            </a:solidFill>
          </c:spPr>
          <c:cat>
            <c:strRef>
              <c:f>'Chart Data'!$C$2:$C$4</c:f>
              <c:strCache>
                <c:ptCount val="3"/>
                <c:pt idx="0">
                  <c:v>A Environment</c:v>
                </c:pt>
                <c:pt idx="1">
                  <c:v>B ESM-2</c:v>
                </c:pt>
                <c:pt idx="2">
                  <c:v>C Combined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3200.77</c:v>
                </c:pt>
                <c:pt idx="1">
                  <c:v>3943.42</c:v>
                </c:pt>
                <c:pt idx="2">
                  <c:v>3452.48</c:v>
                </c:pt>
              </c:numCache>
            </c:numRef>
          </c:val>
        </c:ser>
        <c:dLbls>
          <c:numFmt formatCode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Error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9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9F1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F9D44-1BF2-4C86-A120-B9B422FD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EnzAIme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E07AC-3A0F-464A-B5EB-2B1F3FB9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66177-F33F-4833-A1FE-216D8B81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45C7B-F677-43B7-8C5C-44CF10FA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66850"/>
            <a:ext cx="7372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Environment-Aware AI Platform for Enzyme Recommendation and Optimization for Industrial Waste Biodegradation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D735C-8306-43EB-B22B-C9617E72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Current research: TPA/PET activity prediction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46EAB-4E95-4A83-8558-CDEF0B2C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48075"/>
            <a:ext cx="7124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MEMBERS:  Ramkumar R   ·   Sukil Raj M S</a:t>
            </a:r>
          </a:p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GUIDE:  Mr. G. Kirubakaran B.E., M.E.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82681-7065-45FE-A9F0-5FB3EC1E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712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Department of Artificial Intelligence and Data Science</a:t>
            </a:r>
          </a:p>
          <a:p xmlns:a="http://schemas.openxmlformats.org/drawingml/2006/main">
            <a: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Mepco Schlenk Engineering College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D2F0D-32A3-4ED4-86B6-1D545747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34050"/>
            <a:ext cx="712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Final-year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7963784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AACC9-1958-43BC-85F5-3D176C4F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Motivation and current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2195C-8F67-4924-A459-4CC88E63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7AE00-9F5C-4E7D-AB80-81E395D7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399F8-6420-4552-B9EE-FDE28577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FE76B-778D-4068-AEC1-8C25FC95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original proposal addresses enzyme selection under industrial wastewater conditions.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6B64A-6401-4A4B-82DF-446076AC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E7138-D101-42A2-AB7E-D66110A7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669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current research focuses on PET degradation assays with recorded TPA concentrations.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E809F-0944-4499-BC03-0690EF89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57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6C90F-63D7-483A-A56B-4E0C2918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Temperature, pH and reaction duration describe the available assay environment.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EE950-8C64-4133-9262-6B86162E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481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41B3E-6F6C-4D94-B37E-8BC2E505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481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Dyes, PU, phenolics and other waste streams remain expansion targets.</a:t>
            </a:r>
          </a:p>
        </p:txBody>
      </p:sp>
    </p:spTree>
    <p:extLst>
      <p:ext uri="{BB962C8B-B14F-4D97-AF65-F5344CB8AC3E}">
        <p14:creationId xmlns:p14="http://schemas.microsoft.com/office/powerpoint/2010/main" val="16356084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D8525-2114-44CC-83E7-AA2DFD84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Aim and research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63B1B-82FD-4629-A653-DDFBBECF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827A2-2DDE-427A-AEA3-9EE63E31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558F3-8CE1-4F98-9C49-A94B513D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859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ADBBD-BF12-455C-84CE-69FDF7E2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Build a traceable dataset linking protein sequences, assay conditions and measured TPA.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3950E-2A1F-4692-8E25-0187D67B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A7FEE-E839-48E5-A935-317C1369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Compare environmental features with frozen ESM-2 protein representations.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025DC-B4E2-474F-9D7C-84F5C7F4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052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A8721-D3B9-49AD-B747-A1E3B24A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0520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Evaluate generalization to held-out proteins using grouped cross-validation.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C4BBA-F1D7-4CD4-B3FD-A3102B4B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6E1EB-1EF3-4764-A038-26F48342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Support a recommendation prototype and identify the evidence needed for future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1390658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82C9A-5E52-4852-BFF6-762C0D33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work and long-term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A0361-617B-4336-82BA-9FAABEEC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69A5C-E0AB-4C05-A875-3FF2D2B2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05921-2BA8-4DEB-9941-7B41D8D6C605}"/>
              </a:ext>
            </a:extLst>
          </p:cNvPr>
          <p:cNvGraphicFramePr/>
          <p:nvPr/>
        </p:nvGraphicFramePr>
        <p:xfrm>
          <a:off xmlns:a="http://schemas.openxmlformats.org/drawingml/2006/main" x="904875" y="1581150"/>
          <a:ext xmlns:a="http://schemas.openxmlformats.org/drawingml/2006/main" cx="7620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429250"/>
              </a:tblGrid>
              <a:tr h="670322"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Present scope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 research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221 records, 25 proteins, frozen ESM-2, controlled Ridge experiments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Application prototype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React/Vite and FastAPI using a separate legacy model artifact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 research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Robust fitness oracle, mutation design, structural and experimental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40539-F5F7-4AB9-93F3-9EF53EC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The confirmed research experiment does not validate the separately served legacy model.</a:t>
            </a:r>
          </a:p>
        </p:txBody>
      </p:sp>
    </p:spTree>
    <p:extLst>
      <p:ext uri="{BB962C8B-B14F-4D97-AF65-F5344CB8AC3E}">
        <p14:creationId xmlns:p14="http://schemas.microsoft.com/office/powerpoint/2010/main" val="8734047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F3799-8723-4097-939E-E1DB5EE0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Literature survey: evolution and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98717-9131-451A-8177-97C42F1B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331F4-9391-4A36-8B01-5CE5EE5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B4DE0-F1D5-40B5-808E-F30F1459B1A5}"/>
              </a:ext>
            </a:extLst>
          </p:cNvPr>
          <p:cNvGraphicFramePr/>
          <p:nvPr/>
        </p:nvGraphicFramePr>
        <p:xfrm>
          <a:off xmlns:a="http://schemas.openxmlformats.org/drawingml/2006/main" x="904875" y="1514475"/>
          <a:ext xmlns:a="http://schemas.openxmlformats.org/drawingml/2006/main" cx="76200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2571750"/>
              </a:tblGrid>
              <a:tr h="813435"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 investigated here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1487805"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Tran &amp; Hy (2025)</a:t>
                      </a:r>
                    </a:p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Design by Directed Evolution Guided by Large Language Models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Language-model-guided candidate generation and a learned fitness oracle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Assay conditions and PET/TPA activity require a separate, validated dataset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1937385"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Hong et al. (2025)</a:t>
                      </a:r>
                    </a:p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Structure Prediction Using a New Optimization-Based Evolutionary and Explainable Artificial Intelligence Approach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Evolutionary optimization and explainability for structure prediction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Structure prediction alone does not establish condition-specific enzyme activity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4871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599A2-BF6C-4001-91B5-20997626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Literature survey: protein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704C2-19A6-4E52-B051-C1C21EF6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0960B-1050-4D04-9597-44243A01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7CF2E-24C8-4D8A-B5A3-FB849B706A5D}"/>
              </a:ext>
            </a:extLst>
          </p:cNvPr>
          <p:cNvGraphicFramePr/>
          <p:nvPr/>
        </p:nvGraphicFramePr>
        <p:xfrm>
          <a:off xmlns:a="http://schemas.openxmlformats.org/drawingml/2006/main" x="904875" y="1514475"/>
          <a:ext xmlns:a="http://schemas.openxmlformats.org/drawingml/2006/main" cx="7620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2571750"/>
              </a:tblGrid>
              <a:tr h="641287"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 investigated here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1585405"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Lin et al. (2023)</a:t>
                      </a:r>
                    </a:p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Evolutionary-scale prediction of atomic-level protein structure with a language model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Large protein language models support structural prediction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Test whether frozen representations support TPA prediction with assay conditions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1821434"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Rives et al. (2021)</a:t>
                      </a:r>
                    </a:p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Biological structure and function emerge from scaling unsupervised learning to 250 million protein sequences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learning captures biological structure and function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Representation quality does not guarantee activity prediction on 25 proteins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68D1E-F99D-4527-86AF-8E9B9446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483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EnzAIme tests a specific application of these ideas. It does not claim to solve every gap.</a:t>
            </a:r>
          </a:p>
        </p:txBody>
      </p:sp>
    </p:spTree>
    <p:extLst>
      <p:ext uri="{BB962C8B-B14F-4D97-AF65-F5344CB8AC3E}">
        <p14:creationId xmlns:p14="http://schemas.microsoft.com/office/powerpoint/2010/main" val="3444400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5B336-62D1-4BB4-BCDC-A8B0C0C5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Research gap and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58F25-286E-4B28-9061-9948EDA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FBD20-797D-4B0A-9A45-5A2AB255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5AE98-5675-4AFC-9078-F6ED9CDF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7448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Protein representation + environmental conditions + recorded activity + retained provenance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FB7F5-4C44-4727-ACA9-C43B546D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90875"/>
            <a:ext cx="74104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Can protein sequence representations and environmental conditions jointly support reliable enzyme activity prediction under plastic-degradation conditions?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6D02B-DC72-408E-A539-9C830111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The current experiments test this question under limited protein coverage.</a:t>
            </a:r>
          </a:p>
        </p:txBody>
      </p:sp>
    </p:spTree>
    <p:extLst>
      <p:ext uri="{BB962C8B-B14F-4D97-AF65-F5344CB8AC3E}">
        <p14:creationId xmlns:p14="http://schemas.microsoft.com/office/powerpoint/2010/main" val="1490849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F0779-C40A-4401-BAAF-B9D0DDAD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Dataset sources and intended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C7908-D8AA-4426-9C3A-35BC93CC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16D4E-D354-4714-B0A4-4D711446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DBEC7-29C0-4715-A226-0AA104A2DB11}"/>
              </a:ext>
            </a:extLst>
          </p:cNvPr>
          <p:cNvGraphicFramePr/>
          <p:nvPr/>
        </p:nvGraphicFramePr>
        <p:xfrm>
          <a:off xmlns:a="http://schemas.openxmlformats.org/drawingml/2006/main" x="904875" y="1438275"/>
          <a:ext xmlns:a="http://schemas.openxmlformats.org/drawingml/2006/main" cx="76200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524500"/>
              </a:tblGrid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 in EnzAIme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776560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PAZy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Plastic-active enzymes and recorded PET/TPA assay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UniProt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sequences and biological metadata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BRENDA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Enzyme-property and condition context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FireProtDB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Mutation/stability evidence for future analysis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PDB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information for future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76560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Wastewater datasets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Environmental scenarios and context, not activity labels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83456-9940-4C4E-A8FB-E367DF92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Confirmed labels trace to PAZy assay records. Other sources do not imply complete label coverage.</a:t>
            </a:r>
          </a:p>
        </p:txBody>
      </p:sp>
    </p:spTree>
    <p:extLst>
      <p:ext uri="{BB962C8B-B14F-4D97-AF65-F5344CB8AC3E}">
        <p14:creationId xmlns:p14="http://schemas.microsoft.com/office/powerpoint/2010/main" val="6289067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2AEBC-E95F-44FD-AD4C-6DF62EA4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Dataset construction and provenance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08A55-2852-4EA1-AA66-A06FD47B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20FB3-5B5F-4095-A0AA-E7F7A726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FC6C7-CD93-4865-8AFF-5ED498E2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Biological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F3638-A316-4A63-9ACA-CCDDC2BD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478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E0C35-9FAD-4D89-A544-BEA9E9C1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462 master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C25EC-E270-4935-94E6-28A94D37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8478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03F9C-2AD4-4CA3-9810-916B7268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7,195 embedded assays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B9F4D-6A74-4F83-8DA4-8316A84C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TPA/PET extraction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95493-28D2-43B5-98E7-ABB8680A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384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2ACB3-2BB2-480B-AB46-65352FDA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227 candidate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2D2B1-7188-41C4-910D-93B2E65E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0384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2A0A9-8576-402C-82A5-E627F63D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Provenance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1A315-F912-4691-ACE5-6432281A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Exclude 6 ambiguous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42046-329C-4C45-BDF9-82F25FF0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2910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22CF4-B2B7-4A03-8322-D7A4A093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221 confirmed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C91A2-AB9F-47A2-84E2-4F7D605B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22910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C9636-6A7C-44FA-BC41-9A850E1F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25 protein groups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ED894-0317-4230-9366-2FE177E4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435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Labels derive from recorded experimental measurements, including digitized source values. Duration is normalized to hours.</a:t>
            </a:r>
          </a:p>
        </p:txBody>
      </p:sp>
    </p:spTree>
    <p:extLst>
      <p:ext uri="{BB962C8B-B14F-4D97-AF65-F5344CB8AC3E}">
        <p14:creationId xmlns:p14="http://schemas.microsoft.com/office/powerpoint/2010/main" val="11292709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209F9-8C6F-4052-99C6-B2065BCA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Confirmed dataset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5E1DB-6534-4EEE-B2FD-7F7F9201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F08A9-6F18-47C0-AB8F-96B24CE8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443C3-2DF7-43D5-80C5-EB35E0A94219}"/>
              </a:ext>
            </a:extLst>
          </p:cNvPr>
          <p:cNvGraphicFramePr/>
          <p:nvPr/>
        </p:nvGraphicFramePr>
        <p:xfrm>
          <a:off xmlns:a="http://schemas.openxmlformats.org/drawingml/2006/main" x="904875" y="1457325"/>
          <a:ext xmlns:a="http://schemas.openxmlformats.org/drawingml/2006/main" cx="762000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476750"/>
              </a:tblGrid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Property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Verified value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Activity observations / proteins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221 / 25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TPA concentration, standardized to µM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/ pH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25–80 °C / 7–9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0–672 hours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 range / median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0.3–47,000 µM / 194.8 µM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Current inputs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embedding, temperature, pH, duration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5E0C5-62DC-4D3D-A220-F7FE9A38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959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Target field: target_value_standardized. Concentration is an assay endpoint, not a universal fitness score.</a:t>
            </a:r>
          </a:p>
        </p:txBody>
      </p:sp>
    </p:spTree>
    <p:extLst>
      <p:ext uri="{BB962C8B-B14F-4D97-AF65-F5344CB8AC3E}">
        <p14:creationId xmlns:p14="http://schemas.microsoft.com/office/powerpoint/2010/main" val="10587048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F9454-2E4D-44B5-AA83-1C1737CB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Activity provenance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021D1-6D8F-4928-A4DC-A8C8C960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15D5B-49E9-4BCF-8BB3-EF152035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CD47B-ABD8-44A5-80E5-B8333288D922}"/>
              </a:ext>
            </a:extLst>
          </p:cNvPr>
          <p:cNvGraphicFramePr/>
          <p:nvPr/>
        </p:nvGraphicFramePr>
        <p:xfrm>
          <a:off xmlns:a="http://schemas.openxmlformats.org/drawingml/2006/main" x="904875" y="1552575"/>
          <a:ext xmlns:a="http://schemas.openxmlformats.org/drawingml/2006/main" cx="7620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3095625"/>
              </a:tblGrid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Audit finding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Confirmed dataset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93166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Ambiguous records excluded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 records, retained separately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Repeated protein-condition groups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93166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Exact duplicate groups / rows involved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 groups / 9 rows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Zero-duration observations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96291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identity audit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25 unique sequences, no exact cross-protein duplicates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0308F-2AE2-476E-AD2C-5CDBF01E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387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Repeated conditions and duplicate patterns were audited. They were not automatically discarded.</a:t>
            </a:r>
          </a:p>
        </p:txBody>
      </p:sp>
    </p:spTree>
    <p:extLst>
      <p:ext uri="{BB962C8B-B14F-4D97-AF65-F5344CB8AC3E}">
        <p14:creationId xmlns:p14="http://schemas.microsoft.com/office/powerpoint/2010/main" val="5609046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DBA53-2B0D-478D-9D21-4A742415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imbalance and assay variability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D55F4-6D2F-42A3-A6AC-DB92B84F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548C6-AAC9-48B3-AB19-1F615C64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24C46-E4A7-4946-AF87-F8AF7E24C3B2}"/>
              </a:ext>
            </a:extLst>
          </p:cNvPr>
          <p:cNvGraphicFramePr/>
          <p:nvPr/>
        </p:nvGraphicFramePr>
        <p:xfrm>
          <a:off xmlns:a="http://schemas.openxmlformats.org/drawingml/2006/main" x="904875" y="1600200"/>
          <a:ext xmlns:a="http://schemas.openxmlformats.org/drawingml/2006/main" cx="38100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428750"/>
              </a:tblGrid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Protein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HiC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CalB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606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69620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Remaining 22 proteins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113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E3E5D-32C5-4FF1-AEC4-92E45538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192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HiC contributes 75 of 221 observations (33.9%).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E343C-FADA-4D29-AEE8-989F00FF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857500"/>
            <a:ext cx="3333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47 of 48 repeated-condition groups have different targets. All 48 have recorded metadata differences.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BDA2A-844B-42E9-B85C-0629708D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Matching protein, pH, temperature and duration does not establish identical experimental protocols.</a:t>
            </a:r>
          </a:p>
        </p:txBody>
      </p:sp>
    </p:spTree>
    <p:extLst>
      <p:ext uri="{BB962C8B-B14F-4D97-AF65-F5344CB8AC3E}">
        <p14:creationId xmlns:p14="http://schemas.microsoft.com/office/powerpoint/2010/main" val="19922567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F71A7-65A6-4E25-8903-23B24210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Feature eligibility and leakage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C1F01-466E-4174-B4AA-F626B844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257F5-9E52-4061-ABAF-13711CBD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703B2-52D9-427C-970C-DDF3F63B111E}"/>
              </a:ext>
            </a:extLst>
          </p:cNvPr>
          <p:cNvGraphicFramePr/>
          <p:nvPr/>
        </p:nvGraphicFramePr>
        <p:xfrm>
          <a:off xmlns:a="http://schemas.openxmlformats.org/drawingml/2006/main" x="904875" y="1466850"/>
          <a:ext xmlns:a="http://schemas.openxmlformats.org/drawingml/2006/main" cx="49530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524000"/>
              </a:tblGrid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Classification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SAFE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SAFE_WITH_CAUTION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LEAKAGE_RISK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NOT_RECOMMENDED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FUTURE_FEATURE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E45D9-456F-4CFE-A6DD-64C92CB1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657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48 candidate features audited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DC2BF-9AD5-40DA-AEFE-F88B7134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57500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ID is for grouping. Source IDs, outcomes and protocol-rich metadata are excluded.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7EB0F-874E-4C76-B8B5-B45A638A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Salinity, COD, BOD and pollutant type lack confirmed-label coverage. EC numbers are empty in this cohort.</a:t>
            </a:r>
          </a:p>
        </p:txBody>
      </p:sp>
    </p:spTree>
    <p:extLst>
      <p:ext uri="{BB962C8B-B14F-4D97-AF65-F5344CB8AC3E}">
        <p14:creationId xmlns:p14="http://schemas.microsoft.com/office/powerpoint/2010/main" val="15789852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9E3D5-41C1-4B5F-BEB2-7A167819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feature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CBBA4-A062-4E79-BBC6-BC3C1550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20D31-167E-475C-BB31-53660070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55814-E268-44B1-8429-31D6797278BB}"/>
              </a:ext>
            </a:extLst>
          </p:cNvPr>
          <p:cNvGraphicFramePr/>
          <p:nvPr/>
        </p:nvGraphicFramePr>
        <p:xfrm>
          <a:off xmlns:a="http://schemas.openxmlformats.org/drawingml/2006/main" x="904875" y="1571625"/>
          <a:ext xmlns:a="http://schemas.openxmlformats.org/drawingml/2006/main" cx="76200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048125"/>
                <a:gridCol w="1666875"/>
              </a:tblGrid>
              <a:tr h="787565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Raw dimensions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Temperature, pH, duration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Frozen ESM-2 embedding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+ environment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8756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 (rejected)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+ environment + material + substrate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BFE7F-A5EC-4B31-90F0-967D64CA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Material descriptions are source/protocol-specific. Substrate is PET in all 221 rows, so it adds no variation.</a:t>
            </a:r>
          </a:p>
        </p:txBody>
      </p:sp>
    </p:spTree>
    <p:extLst>
      <p:ext uri="{BB962C8B-B14F-4D97-AF65-F5344CB8AC3E}">
        <p14:creationId xmlns:p14="http://schemas.microsoft.com/office/powerpoint/2010/main" val="94520016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B658F-718A-4F20-BA5C-EF574FB4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What model are we using?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31F80-0172-4896-AAD4-F194404E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E2C56-ED2F-438F-A888-5C40BDF5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32D78-1D5B-4694-BF51-0162EE7C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562100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Frozen ESM-2 + Ridge regression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3A54B-E9DC-4EAE-BBAA-DDA028F6574C}"/>
              </a:ext>
            </a:extLst>
          </p:cNvPr>
          <p:cNvGraphicFramePr/>
          <p:nvPr/>
        </p:nvGraphicFramePr>
        <p:xfrm>
          <a:off xmlns:a="http://schemas.openxmlformats.org/drawingml/2006/main" x="904875" y="2609850"/>
          <a:ext xmlns:a="http://schemas.openxmlformats.org/drawingml/2006/main" cx="76200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905375"/>
              </a:tblGrid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controlled baseline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Feature extractor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facebook/esm2_t33_650M_UR50D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representation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1,280-dimensional vector, no fine-tuning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Supervised estimator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Ridge regression, α = 10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7398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Dimensionality reduction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10 PCA components for B and C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7398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 /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log1p target / 5-fold GroupKFold by protein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08584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043B5-86BB-404B-A14D-A6BC1487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Frozen ESM-2 feature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18F0B-B952-40B4-9840-2D9F36C4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C85B4-7CD4-49F8-8841-A1F7EB0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68096-08F7-4283-B7CD-5777C258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40970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538C5-1EC1-4912-9B8C-9A581E23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5BCD6-697B-4C93-BE95-017BD7C4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38375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Tokenizer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44D4B-C2D6-423B-8FC8-69960265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82B56-E405-43B5-9D41-AF184EFD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57525"/>
            <a:ext cx="4714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Frozen ESM-2 Transformer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33 layers, 650M parameters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42A47-F23D-420C-BB2D-71492619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814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F91B5-EABC-4336-9336-3BF62198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7670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Attention-mask mean pooling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D3557-82BB-458B-A91E-05F7242C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0057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61643-E21B-4FE1-B5B1-930EA9B9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9585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1,280-dimensional embedding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F1518-578D-4BA9-BD21-83F23273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25/25 confirmed proteins have finite vectors. Current pooling includes special tokens.</a:t>
            </a:r>
          </a:p>
        </p:txBody>
      </p:sp>
    </p:spTree>
    <p:extLst>
      <p:ext uri="{BB962C8B-B14F-4D97-AF65-F5344CB8AC3E}">
        <p14:creationId xmlns:p14="http://schemas.microsoft.com/office/powerpoint/2010/main" val="144064623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A7DBD-0779-4D1B-95DF-4ADD3897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research prediction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DC9B0-8CEC-465D-86AF-AC10A5CB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AF432-77AC-40BD-AE75-B366EA84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3438A-87AA-4BBF-BBA8-BB5EFB63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290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vector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1,280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22475-9D4B-43DF-ADDA-9B7D2617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62100"/>
            <a:ext cx="3095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Temperature, pH, duration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3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84D47-CE9B-44D1-900C-85493F5B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336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2E08C-BE01-4CC8-AF69-9C4E1DCF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2905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Train-only scaling + PCA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10 components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8BA8D-D520-41B0-8651-044C448B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33625"/>
            <a:ext cx="2095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E4C7A-EAF5-4ED5-8EE1-37A7400C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90850"/>
            <a:ext cx="10572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E699D-95B8-4759-A3DC-7457B298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2415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Concatenate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13 model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35562-3B84-45F9-82F1-8F1FBA4C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147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BBFB9-B518-4057-B6BF-1C8A68D1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0025"/>
            <a:ext cx="470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Train-only final scaling + Ridge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5B3A4-DBA7-43AA-943A-5F4BAFBE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62915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AAD9D-293B-4C76-93F0-A0A2226F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62525"/>
            <a:ext cx="470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TPA prediction after expm1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266C0-2854-49A2-A45A-0178DCFE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Configuration C shown. Raw feature fusion is 1,283-dimensional before PCA reduction.</a:t>
            </a:r>
          </a:p>
        </p:txBody>
      </p:sp>
    </p:spTree>
    <p:extLst>
      <p:ext uri="{BB962C8B-B14F-4D97-AF65-F5344CB8AC3E}">
        <p14:creationId xmlns:p14="http://schemas.microsoft.com/office/powerpoint/2010/main" val="55993079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DDFD5-1110-4C0E-8BDF-174FB07C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Representation and feature equations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382B3-6B46-4A19-B6FC-B9A1CF22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0D4B9-BF67-46D1-9F0F-0EB7C60F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8920F-8F46-4FE5-A125-A9CB4634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Mean pooling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91295-822D-4E39-B351-41A42170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383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 = ( Σᵢ mᵢ hᵢ ) / ( Σᵢ mᵢ 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201C2-A94D-4FD4-BAE8-912DCCB8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71775"/>
            <a:ext cx="7477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hᵢ: token representation     mᵢ: attention-mask indicator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88609-7F31-4F54-93EF-8B2D04F2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Raw feature fusion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C3A71-BFA7-4477-A6F0-F6F5CB9A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738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x = [ z_ESM ; T ; pH ; d ]     dim(x) = 1,283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0F712-2908-44DC-9AAF-AE7D78BF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006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z_ESM has 1,280 features. T is temperature and d is duration in hours.</a:t>
            </a:r>
          </a:p>
        </p:txBody>
      </p:sp>
    </p:spTree>
    <p:extLst>
      <p:ext uri="{BB962C8B-B14F-4D97-AF65-F5344CB8AC3E}">
        <p14:creationId xmlns:p14="http://schemas.microsoft.com/office/powerpoint/2010/main" val="49863521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CACCE-C56E-460E-9412-2B95C92E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Ridge training and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31E47-5785-409D-9633-D8044BFF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7EEAA-5DAA-4839-A6F3-9486B9F0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1AF42-30E8-4347-81E2-623C1BB2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478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Target transform:     y′ = ln(1 + 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3F38B-9F94-47DC-A962-23A90D20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Minimize over w and b: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3B7C6-9838-4075-8DA8-217FAAE6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742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‖y′ − Xw − b1‖₂² + α‖w‖₂²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544BD-0286-435D-9C19-4A1665EA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α = 10. The fitted intercept b is unpenalized.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F18B8-2B32-4662-9516-18B3BDF6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7429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Prediction:     ŷ = exp(ŷ′) − 1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0FC34-FE61-4BF2-BC6F-4B374D0F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292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Evaluation returns to the original µM scale.</a:t>
            </a:r>
          </a:p>
        </p:txBody>
      </p:sp>
    </p:spTree>
    <p:extLst>
      <p:ext uri="{BB962C8B-B14F-4D97-AF65-F5344CB8AC3E}">
        <p14:creationId xmlns:p14="http://schemas.microsoft.com/office/powerpoint/2010/main" val="211636800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3CED8-A19D-49FA-8FDA-62C0CFF2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Evaluation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B7D10-6067-4B0B-BD75-1D2B8BB4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A3A9D-A944-4E56-94E3-03899CD5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BF75C-1941-4F4F-A282-CFD09853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43050"/>
            <a:ext cx="735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MAE = (1/n) Σᵢ |yᵢ − ŷᵢ|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CFD5A-6261-49BA-8936-5A020113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90775"/>
            <a:ext cx="735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RMSE = √[(1/n) Σᵢ (yᵢ − ŷᵢ)²]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E767C-8C3F-4BF3-8142-8CA7A33F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38500"/>
            <a:ext cx="735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R² = 1 − Σᵢ(yᵢ − ŷᵢ)² / Σᵢ(yᵢ − ȳ)²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2815D-9B08-426B-8141-0BE680A3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71950"/>
            <a:ext cx="735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Spearman ρ = corr(rank(y), rank(ŷ))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4DF87-128B-4B4D-BCFF-EE281641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MAE/RMSE measure error in µM. Negative R² means worse squared error than the held-out mean baseline.</a:t>
            </a:r>
          </a:p>
        </p:txBody>
      </p:sp>
    </p:spTree>
    <p:extLst>
      <p:ext uri="{BB962C8B-B14F-4D97-AF65-F5344CB8AC3E}">
        <p14:creationId xmlns:p14="http://schemas.microsoft.com/office/powerpoint/2010/main" val="187447067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76D6D-E7D4-4D13-A7B1-4CC95180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Protein-grouped cross-validation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0BEC9-6F25-4831-9E8F-7E990D79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197C1-3783-4937-976E-06823AA1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C8776-C0C1-41B0-94C6-4898C189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381125"/>
            <a:ext cx="7381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All records for a protein stay in one fold.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17432-919B-447D-B56B-5E866D404A78}"/>
              </a:ext>
            </a:extLst>
          </p:cNvPr>
          <p:cNvGraphicFramePr/>
          <p:nvPr/>
        </p:nvGraphicFramePr>
        <p:xfrm>
          <a:off xmlns:a="http://schemas.openxmlformats.org/drawingml/2006/main" x="904875" y="2190750"/>
          <a:ext xmlns:a="http://schemas.openxmlformats.org/drawingml/2006/main" cx="7620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190875"/>
                <a:gridCol w="2714625"/>
              </a:tblGrid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Fold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observations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proteins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61BAE-09ED-4B64-82A5-5B2F3662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530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Train proteins ≠ test proteins. Fit PCA/scalers on training data only, then transform the held-out fold.</a:t>
            </a:r>
          </a:p>
        </p:txBody>
      </p:sp>
    </p:spTree>
    <p:extLst>
      <p:ext uri="{BB962C8B-B14F-4D97-AF65-F5344CB8AC3E}">
        <p14:creationId xmlns:p14="http://schemas.microsoft.com/office/powerpoint/2010/main" val="202903419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5C0ED-7F79-4686-A24E-99105936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ablation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F52AF-102E-4096-8DEF-D8FEAD4E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7B4A2-5DA7-4201-9389-A28126F6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0335A-52C0-4FC7-8053-D3D7AFDC494F}"/>
              </a:ext>
            </a:extLst>
          </p:cNvPr>
          <p:cNvGraphicFramePr/>
          <p:nvPr/>
        </p:nvGraphicFramePr>
        <p:xfrm>
          <a:off xmlns:a="http://schemas.openxmlformats.org/drawingml/2006/main" x="904875" y="1790700"/>
          <a:ext xmlns:a="http://schemas.openxmlformats.org/drawingml/2006/main" cx="7620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381125"/>
                <a:gridCol w="1476375"/>
                <a:gridCol w="1285875"/>
                <a:gridCol w="1381125"/>
              </a:tblGrid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(µM)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 (µM)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Spearman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  Environment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1423.11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3200.77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-0.29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0.313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  ESM-2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1918.29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3943.42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-86.87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-0.227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  Combined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1592.12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3452.48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-23.22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0.239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072D6-1B5B-4E82-80EF-E0D5DCA2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747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Mean fold metrics, same grouped splits and Ridge α = 10.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1C1CF-19C3-4CF9-86AC-D80BCF0D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B Spearman averages 4 defined folds. Fold 1 is undefined because its predictions are constant.</a:t>
            </a:r>
          </a:p>
        </p:txBody>
      </p:sp>
    </p:spTree>
    <p:extLst>
      <p:ext uri="{BB962C8B-B14F-4D97-AF65-F5344CB8AC3E}">
        <p14:creationId xmlns:p14="http://schemas.microsoft.com/office/powerpoint/2010/main" val="105210145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B7837-8EE5-46F4-8A9B-EA4A4A68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Ablation: absolute prediction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BB693-613D-4A2C-AF85-FF285528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ECBA2-51A2-43DC-B8D2-9D73CB4A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F0E401F-1F7E-4478-AA26-039A689F73DD}"/>
              </a:ext>
            </a:extLst>
          </p:cNvPr>
          <p:cNvGraphicFramePr/>
          <p:nvPr/>
        </p:nvGraphicFramePr>
        <p:xfrm>
          <a:off xmlns:a="http://schemas.openxmlformats.org/drawingml/2006/main" x="1047750" y="1533525"/>
          <a:ext xmlns:a="http://schemas.openxmlformats.org/drawingml/2006/main" cx="73628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d3f02eaddf472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2D283-AFBE-4CF2-AF6F-6FAA2418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Combined features reduce error relative to ESM-2 alone, but do not outperform environment-only here.</a:t>
            </a:r>
          </a:p>
        </p:txBody>
      </p:sp>
    </p:spTree>
    <p:extLst>
      <p:ext uri="{BB962C8B-B14F-4D97-AF65-F5344CB8AC3E}">
        <p14:creationId xmlns:p14="http://schemas.microsoft.com/office/powerpoint/2010/main" val="213731697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94EAA-81C7-4DD0-BC0C-1E73D555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What the current results tell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0AD9F-93E2-4EB6-AD3C-3AE5BB8C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3CA47-5B61-4AA5-8023-2819D50B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C0CBA-ED81-485E-AA47-C93DAAAF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144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4B52F-2E24-44EF-A71F-3CD69E41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144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Environment-only shows positive mean ranking signal (Spearman 0.313).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3DA0B-05D6-425C-8C29-208CE29F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622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3A47E-CD78-400C-AECF-D01DCC93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alone generalizes poorly in this small dataset. Adding conditions helps relative to ESM-2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58B7D-15D8-411F-A794-325BEB78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9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2243C-B03B-409C-B178-607C139F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Negative mean R² and large fold differences limit claims about absolute prediction.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642D6-1629-48AD-BD25-E66D0C14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577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0D5AC-973F-4B7D-820B-90700A1B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77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These findings concern this dataset and setup. They do not establish that protein language models are ineffective.</a:t>
            </a:r>
          </a:p>
        </p:txBody>
      </p:sp>
    </p:spTree>
    <p:extLst>
      <p:ext uri="{BB962C8B-B14F-4D97-AF65-F5344CB8AC3E}">
        <p14:creationId xmlns:p14="http://schemas.microsoft.com/office/powerpoint/2010/main" val="181995375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5727A-5BB1-40B0-BAEE-E11727EB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Completed fold-level error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532C5-8BC5-490C-A8FD-84E1D23A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9806E-B583-46EF-9D45-E7D054F2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104CC-FC00-4748-8524-A20DA09ABB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5ccfaba6443d7"/>
          <a:stretch xmlns:a="http://schemas.openxmlformats.org/drawingml/2006/main"/>
        </p:blipFill>
        <p:spPr>
          <a:xfrm xmlns:a="http://schemas.openxmlformats.org/drawingml/2006/main">
            <a:off x="923925" y="2173129"/>
            <a:ext cx="7610475" cy="228314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2AC34-6B10-4E7F-927B-CADD3EEA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558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6558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584F"/>
                </a:solidFill>
                <a:latin typeface="Arial"/>
                <a:ea typeface="Arial"/>
                <a:cs typeface="Arial"/>
              </a:rPr>
              <a:t>Research experiment output: saved out-of-fold prediction plots.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8C6DB-27D8-467A-B3E3-849D239A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Per-fold and per-protein diagnostics are complete. Interpretation and model refinement continue.</a:t>
            </a:r>
          </a:p>
        </p:txBody>
      </p:sp>
    </p:spTree>
    <p:extLst>
      <p:ext uri="{BB962C8B-B14F-4D97-AF65-F5344CB8AC3E}">
        <p14:creationId xmlns:p14="http://schemas.microsoft.com/office/powerpoint/2010/main" val="176759013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D6869-E6BD-4A31-83F0-1C64A8C7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Error analysis: two major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B28B2-A174-4B06-97A5-A1C34108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B8888-DE65-4D8D-8D55-E222449A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B0337-3320-44AE-978B-738E369D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430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PHL-7 in fold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DE112-4A50-46CA-AC9A-45F4C886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05025"/>
            <a:ext cx="7334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Observed TPA reaches 47,000 µM. The fold’s training targets reach only about 6,860 µM. The retained provenance supports 47 mM converted to µM.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55820-C94F-4720-B9E6-39FB93D6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Protein 606 in fold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647D3-0DCD-4CF7-9638-CA8B8DDC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733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Overprediction for this protein contributes 99.3% of B’s and 98.0% of C’s fold-3 squared error.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736A7-8BAC-4DAE-941E-93B7B1BE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Large values and repeated conditions require source review, not automatic removal.</a:t>
            </a:r>
          </a:p>
        </p:txBody>
      </p:sp>
    </p:spTree>
    <p:extLst>
      <p:ext uri="{BB962C8B-B14F-4D97-AF65-F5344CB8AC3E}">
        <p14:creationId xmlns:p14="http://schemas.microsoft.com/office/powerpoint/2010/main" val="153810809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230D6-4A56-4AF9-8D02-028B5003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Additional research already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9C4A9-0567-43E9-B51C-E7F1DEBD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D511A-FFF2-4241-A8B6-02573861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DBA97-D303-4295-9985-6FC46E37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859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786FE-8C31-4DD1-AF6C-037F8758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Model comparison reports evaluate Ridge, ElasticNet, Random Forest and Gradient Boosting.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AC4B8-7BC6-4008-B5BE-B53C140E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D7D1A-9483-4747-8F66-151F471C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separate balance analysis samples at most 5 records per protein: 82 records across all 25 proteins.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5C238-1C7E-48A1-A25C-1259CB5B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623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A52CF-52D3-4105-B52F-840A6998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Repeated-condition analysis records protocol/metadata differences across all 48 repeated groups.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55B2D-2732-4DE6-95CE-B1491D16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00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BF0A6-7DEA-4AFB-A228-485FC8F1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00575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These are exploratory follow-ups. Final model selection and an independently validated serving artifact remain open.</a:t>
            </a:r>
          </a:p>
        </p:txBody>
      </p:sp>
    </p:spTree>
    <p:extLst>
      <p:ext uri="{BB962C8B-B14F-4D97-AF65-F5344CB8AC3E}">
        <p14:creationId xmlns:p14="http://schemas.microsoft.com/office/powerpoint/2010/main" val="166591504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D0386-7C23-4B3E-B484-0235B0C1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ABFE1-B15B-4ADD-8B74-E3F97244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60D5F-F50B-40E3-882E-ECB13466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1AE26-219D-47B1-80DC-3B2787DC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52575"/>
            <a:ext cx="14382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7BD08-3185-4C14-AE6C-59064243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7526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975E9-8BBA-4F46-A1DD-B3600910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525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React / 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DC89C-A4C0-4A3E-BA90-9E7E2B82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526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70938-AD3E-44A9-A753-28CDB3BC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52575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2B5DB-89C6-427A-9298-07458671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574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CC648-39B1-447C-90A2-8C23D830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67000"/>
            <a:ext cx="3686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Predict / recommend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E8885-BB0E-4143-A71B-2BAB551C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8137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FB534-AEE0-4A5B-ADA5-FCB0EC61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00475"/>
            <a:ext cx="47815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+ saved PCA/scaler/Ridge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Legacy 227-row candidate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0BC24-EB57-4FDD-ABC1-83F7EDDD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2190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Research scripts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Confirmed 221-row dataset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A/B/C evaluation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65F83-5FD3-4830-B073-8710D9A7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Application serving and confirmed-data experiments are distinct paths. Production use is future work.</a:t>
            </a:r>
          </a:p>
        </p:txBody>
      </p:sp>
    </p:spTree>
    <p:extLst>
      <p:ext uri="{BB962C8B-B14F-4D97-AF65-F5344CB8AC3E}">
        <p14:creationId xmlns:p14="http://schemas.microsoft.com/office/powerpoint/2010/main" val="93107843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1D675-2983-404C-A273-F6973340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Served model: lineage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8926E-DBB7-40C0-AAD3-FF523C67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5F110-B9C0-41D9-B288-0491C9A6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0FC7B-8974-4FA4-92A4-93208620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8C637-F422-4549-BEAD-0DB75A2C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Saved PCA/scaler metadata points to 227 legacy observations, including the 6 ambiguous source rows.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1A076-4505-4408-8B7D-44AAF0FD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431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B272C-B658-46C9-9750-4E32E014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431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Exact final Ridge training rows, saved CV membership and artifact-to-run linkage remain unresolved.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1B6F8-32B5-471A-BAF3-141197F7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9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ADB70-810E-4C10-A1F1-B9A6F5BD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recommendation source is the legacy CSV. Its evidence counts are not confirmed-record counts.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E2138-5E97-4413-B2ED-68EAA631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23024-8AFF-4262-941C-B99A8E36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767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one-input check matched across scikit-learn 1.9.1 and 1.6.1. This does not establish general compatibility or scientific validity.</a:t>
            </a:r>
          </a:p>
        </p:txBody>
      </p:sp>
    </p:spTree>
    <p:extLst>
      <p:ext uri="{BB962C8B-B14F-4D97-AF65-F5344CB8AC3E}">
        <p14:creationId xmlns:p14="http://schemas.microsoft.com/office/powerpoint/2010/main" val="41976258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022E4-AA52-47CD-8171-7E9AB1F4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Actual saved API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AFBF4-DBD1-43AC-B9A6-92D94955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4E5AA-14AE-4AE2-A8EF-FF1A1167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40EBE-6C3E-4587-8ED0-B6D23ED763B9}"/>
              </a:ext>
            </a:extLst>
          </p:cNvPr>
          <p:cNvGraphicFramePr/>
          <p:nvPr/>
        </p:nvGraphicFramePr>
        <p:xfrm>
          <a:off xmlns:a="http://schemas.openxmlformats.org/drawingml/2006/main" x="904875" y="1581150"/>
          <a:ext xmlns:a="http://schemas.openxmlformats.org/drawingml/2006/main" cx="7620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476750"/>
              </a:tblGrid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IsPETase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/ pH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40 °C / 8.0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Duration / substrate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48 hours / PET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871423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Returned TPA prediction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23.14270943 µM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7659F-347A-4518-8C8D-DD86F0D0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Actual system output from the legacy model. This is a prediction example, not a measured assay result.</a:t>
            </a:r>
          </a:p>
        </p:txBody>
      </p:sp>
    </p:spTree>
    <p:extLst>
      <p:ext uri="{BB962C8B-B14F-4D97-AF65-F5344CB8AC3E}">
        <p14:creationId xmlns:p14="http://schemas.microsoft.com/office/powerpoint/2010/main" val="87648086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FF3A5-7278-48D8-8048-554C7C9C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5807D-B39D-4FCC-B6AE-EF88D807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923C2-05AA-4371-87BC-0A18492E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5F4A9-BC0D-4083-AB61-ED01A6B53B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c64d500824fa8"/>
          <a:stretch xmlns:a="http://schemas.openxmlformats.org/drawingml/2006/main"/>
        </p:blipFill>
        <p:spPr>
          <a:xfrm xmlns:a="http://schemas.openxmlformats.org/drawingml/2006/main">
            <a:off x="985181" y="1476375"/>
            <a:ext cx="7468914" cy="3886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5CBD4-FC8E-4928-8DE3-F74746A0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system screenshot from the supplied deck. Initial prototype interface.</a:t>
            </a:r>
          </a:p>
        </p:txBody>
      </p:sp>
    </p:spTree>
    <p:extLst>
      <p:ext uri="{BB962C8B-B14F-4D97-AF65-F5344CB8AC3E}">
        <p14:creationId xmlns:p14="http://schemas.microsoft.com/office/powerpoint/2010/main" val="51937331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A5353-D104-4D67-8CD8-71BCCAC3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2ED01-DFF4-4FD7-9D2B-D2DFC614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B0F33-B793-4682-9AA7-59D48426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F3B0A-15DA-434E-8705-5590EC32F1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b0d8e26d0470e"/>
          <a:stretch xmlns:a="http://schemas.openxmlformats.org/drawingml/2006/main"/>
        </p:blipFill>
        <p:spPr>
          <a:xfrm xmlns:a="http://schemas.openxmlformats.org/drawingml/2006/main">
            <a:off x="933450" y="1494295"/>
            <a:ext cx="7572375" cy="385036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C55EF-CD70-48FD-85E3-C5EC2366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rule-based output. Suitability percentages are not learned activity predictions.</a:t>
            </a:r>
          </a:p>
        </p:txBody>
      </p:sp>
    </p:spTree>
    <p:extLst>
      <p:ext uri="{BB962C8B-B14F-4D97-AF65-F5344CB8AC3E}">
        <p14:creationId xmlns:p14="http://schemas.microsoft.com/office/powerpoint/2010/main" val="775306859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01EF4-A724-4014-AF8C-988B3202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enzyme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E3252-9EEA-4990-BDF2-E1143AE4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AC314-12C6-42FC-ACBA-CA227E21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C7096-4132-4E93-AB97-DC11D09565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d4c57c5c649d0"/>
          <a:stretch xmlns:a="http://schemas.openxmlformats.org/drawingml/2006/main"/>
        </p:blipFill>
        <p:spPr>
          <a:xfrm xmlns:a="http://schemas.openxmlformats.org/drawingml/2006/main">
            <a:off x="933450" y="1495347"/>
            <a:ext cx="7572375" cy="384825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36351-255C-4075-BC8C-54B841CE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system screenshot. Enzyme metadata and preliminary mutation controls.</a:t>
            </a:r>
          </a:p>
        </p:txBody>
      </p:sp>
    </p:spTree>
    <p:extLst>
      <p:ext uri="{BB962C8B-B14F-4D97-AF65-F5344CB8AC3E}">
        <p14:creationId xmlns:p14="http://schemas.microsoft.com/office/powerpoint/2010/main" val="155688520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5A6AF-3AF7-4ADE-91B2-15425271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Initial rule-based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07E6E-E249-4E2B-AF40-0D4CFEEB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21E62-3C9E-4C9D-AF6B-03CD1656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54EFF-C766-4D8C-A556-377A1901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14500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 = 0.40 P + 0.25 H + 0.25 T + 0.10 Sₐ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300B8-1A2E-4F6E-A441-71E4CF15CF59}"/>
              </a:ext>
            </a:extLst>
          </p:cNvPr>
          <p:cNvGraphicFramePr/>
          <p:nvPr/>
        </p:nvGraphicFramePr>
        <p:xfrm>
          <a:off xmlns:a="http://schemas.openxmlformats.org/drawingml/2006/main" x="904875" y="2752725"/>
          <a:ext xmlns:a="http://schemas.openxmlformats.org/drawingml/2006/main" cx="76200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286000"/>
              </a:tblGrid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Compatibility term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Pollutant (P)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0.40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pH (H)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(T)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Salinity (Sₐ)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0.10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8F484-D1D1-4AF6-8871-850778A2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This transparent score was an initial prototype baseline. It is separate from the learned TPA predictor.</a:t>
            </a:r>
          </a:p>
        </p:txBody>
      </p:sp>
    </p:spTree>
    <p:extLst>
      <p:ext uri="{BB962C8B-B14F-4D97-AF65-F5344CB8AC3E}">
        <p14:creationId xmlns:p14="http://schemas.microsoft.com/office/powerpoint/2010/main" val="121959384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9DCC7-7B81-45DB-B6B5-3E44949E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Preliminary mutation prioritization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50E8F-EEEE-4DD8-BB7D-6459BCDD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5EE81-D3E3-4291-8A97-B75DBA5F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27CB8-0283-474E-BA09-6FCB77C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14475"/>
            <a:ext cx="738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Historical prototype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702AC-32E8-4C8D-8B73-91965A20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7381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S_mut = 0.7 × stability proxy + 0.3 × fitness proxy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EC5CC-4099-4F52-B1D0-73944991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57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748AA-1772-41E9-91F5-3084B4FA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731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Physicochemical proxies rank computational mutation hypotheses.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5269A-8D2D-4A42-8B4A-C92CE539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00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D104C-C60D-4B6D-AA34-F111C2A1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731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FireProtDB matching provides insufficient mutation/ΔΔG evidence for this 25-protein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5083A-D30C-4F28-A7A0-1ABE8B74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054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Mutation candidates require experimental validation. No validated mutation predictor is established.</a:t>
            </a:r>
          </a:p>
        </p:txBody>
      </p:sp>
    </p:spTree>
    <p:extLst>
      <p:ext uri="{BB962C8B-B14F-4D97-AF65-F5344CB8AC3E}">
        <p14:creationId xmlns:p14="http://schemas.microsoft.com/office/powerpoint/2010/main" val="85817122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6424B-061B-4EC0-B03E-677486ED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53268-816A-423D-AD52-2E5072C0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43855-0785-4DBA-A70A-8EBFA635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1F731-C503-475D-97EC-43F41F761A55}"/>
              </a:ext>
            </a:extLst>
          </p:cNvPr>
          <p:cNvGraphicFramePr/>
          <p:nvPr/>
        </p:nvGraphicFramePr>
        <p:xfrm>
          <a:off xmlns:a="http://schemas.openxmlformats.org/drawingml/2006/main" x="904875" y="1457325"/>
          <a:ext xmlns:a="http://schemas.openxmlformats.org/drawingml/2006/main" cx="76200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715000"/>
              </a:tblGrid>
              <a:tr h="408541"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Evidence-backed scope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Master integration, TPA extraction, provenance/ambiguity review, duration normalization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vectors, leakage audit, feature matrices, grouped A/B/C validation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Fold diagnostics, targeted audits, model comparison and balance sensitivity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Prototype available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FastAPI backend and React/Vite frontend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In progress / open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Model refinement, explainability, uncertainty and final model selection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Validated mutation design, structures, docking, wet-lab study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47416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B0F9F-3B26-429F-8DE0-92C7E023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Codebase and 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B8564-36C1-461D-98AF-F300AFC9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6457E-4534-4455-B7EC-6EB88231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50EFA-CAC7-4947-83F5-FBFFEC558625}"/>
              </a:ext>
            </a:extLst>
          </p:cNvPr>
          <p:cNvGraphicFramePr/>
          <p:nvPr/>
        </p:nvGraphicFramePr>
        <p:xfrm>
          <a:off xmlns:a="http://schemas.openxmlformats.org/drawingml/2006/main" x="904875" y="1504950"/>
          <a:ext xmlns:a="http://schemas.openxmlformats.org/drawingml/2006/main" cx="7620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953000"/>
              </a:tblGrid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backend/app/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FastAPI routes, ESM encoder, prediction and ranking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frontend/src/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React interface and research/legacy evidence labels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scripts/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Dataset audits and reproducible research experiments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data/ and models/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Confirmed/legacy datasets, stored embeddings and serving artifacts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reports/results/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Ablation, diagnostics and lineage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28C75-142A-492F-BF8A-11957DB1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Verification includes embedding finiteness, protein split checks and a saved API compatibility probe. The old “54 tests” claim is removed.</a:t>
            </a:r>
          </a:p>
        </p:txBody>
      </p:sp>
    </p:spTree>
    <p:extLst>
      <p:ext uri="{BB962C8B-B14F-4D97-AF65-F5344CB8AC3E}">
        <p14:creationId xmlns:p14="http://schemas.microsoft.com/office/powerpoint/2010/main" val="68291501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A6561-E541-4D40-9FDE-C0AC6A13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096F1-4228-4AD8-8A30-7ADE9456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74865-99E5-4E32-8D3D-EBCF709A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24C44-7946-4959-879F-2858B77A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B82CF-D54F-4194-98A9-B4CA3C92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287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Only 25 protein groups and 221 observations, with imbalanced counts and a wide target range.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769F3-2DE1-43BF-8C23-156F8084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43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526CB-FBB0-47DE-8A7F-19F77006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Available conditions are temperature, pH and duration. Protocol differences remain partly unmodeled.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959A6-5529-4948-8D13-B88F6DFF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57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4EADC-2685-40B3-A925-29B598F6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Negative R², high fold variability and repeated-condition differences limit generalization.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FD982-C353-4630-9B29-345FC307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DAA9A-4F37-4CAD-8E54-EB068734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Mutation evidence is insufficient. No wet-lab validation or industrial deployment is established.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897CA-F449-4F3A-BDF6-D3C17EE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863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F5B76-4400-4C30-B1EB-9DB8B525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Legacy serving lineage and environment reproducibility need further resolution.</a:t>
            </a:r>
          </a:p>
        </p:txBody>
      </p:sp>
    </p:spTree>
    <p:extLst>
      <p:ext uri="{BB962C8B-B14F-4D97-AF65-F5344CB8AC3E}">
        <p14:creationId xmlns:p14="http://schemas.microsoft.com/office/powerpoint/2010/main" val="863655617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195E3-55BB-426C-9A07-82409E19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Long-term EnzAIme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FED07-CC17-4315-A133-A9AE22C0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B5CCD-D473-4E55-AC1F-EAD915C6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CC7B0-3BFE-457C-AEDA-0D2729DB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239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PROPOSED / FUTURE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6743B-3C64-49D8-A151-53E16F04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85950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Wastewater conditions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Environmental encoder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1C891-4E72-47DA-8147-6ED9196E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85950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sequence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943DD-6CAF-4098-BC93-A7999E30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289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BC2D5-C40B-4C30-9099-027BEC10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6BF4B-069E-44D1-95E7-5B960D86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Multimodal fusion + condition-aware fitness oracle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01E5B-4FFC-4546-9DF2-63FE7E2F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052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7812A-45A9-40FA-BF5A-A7FE6D37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Candidate generation + mutation prioritization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56670-9250-401C-BF69-9D5DEAE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625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76A40-17F2-4BE0-8EFE-84320627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14925"/>
            <a:ext cx="619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Iterative directed evolution / beam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05BC6-5313-421C-A7DD-1AB735A7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00725"/>
            <a:ext cx="741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Structural validation followed by experimental validation</a:t>
            </a:r>
          </a:p>
        </p:txBody>
      </p:sp>
    </p:spTree>
    <p:extLst>
      <p:ext uri="{BB962C8B-B14F-4D97-AF65-F5344CB8AC3E}">
        <p14:creationId xmlns:p14="http://schemas.microsoft.com/office/powerpoint/2010/main" val="255457392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0D6D8-26E8-45EC-92C0-D77470AB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Future masking and evolution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97753-D9B3-41DD-832E-18175A6A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237BC-9C32-481C-8B3B-8044A64A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6709B-954F-472C-83EB-A3F8E3DA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13F5E-FC83-4B45-9100-8DC70385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954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Random masking explores sequence positions. An importance strategy would prioritize candidate hotspots.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C4BC8-C1B2-4193-AE98-A020A7B6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32B45-2DE3-46D0-A85D-22118DE8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future language-model generation step proposes substitutions. A validated condition-aware oracle would rank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7C2A5-89BF-4683-898B-181967C2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528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DF9D1-D9B7-499B-97DC-8EEC96DC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528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Beam search would retain a small set of candidates over successive rounds.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2AC73-A682-4A5A-9315-033B509C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815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83431-4D32-4488-9B3F-B0772C73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815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Structural assessment and laboratory measurements must test the proposed improvements.</a:t>
            </a:r>
          </a:p>
        </p:txBody>
      </p:sp>
    </p:spTree>
    <p:extLst>
      <p:ext uri="{BB962C8B-B14F-4D97-AF65-F5344CB8AC3E}">
        <p14:creationId xmlns:p14="http://schemas.microsoft.com/office/powerpoint/2010/main" val="71721584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44C9A-3B5B-4C3A-A179-35913078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Future work in research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77A95-356F-40C3-B91B-3D58AB55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6C18E-2FB0-454F-9FC6-01F0A5A8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3EB93-DABE-480E-AF93-62D4606C00FB}"/>
              </a:ext>
            </a:extLst>
          </p:cNvPr>
          <p:cNvGraphicFramePr/>
          <p:nvPr/>
        </p:nvGraphicFramePr>
        <p:xfrm>
          <a:off xmlns:a="http://schemas.openxmlformats.org/drawingml/2006/main" x="904875" y="1495425"/>
          <a:ext xmlns:a="http://schemas.openxmlformats.org/drawingml/2006/main" cx="7620000" cy="4029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238750"/>
              </a:tblGrid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work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1. Resolve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Extend error analysis, source uncertainty and served-artifact lineage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2. Improve data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Balance observations, expand proteins and industrial condition coverage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3. Evaluate models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Representation/hyperparameter studies, uncertainty and explainability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4. Rank candidates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 condition-aware ranking before mutation prioritization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5. Validate design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analysis, docking and experimental testing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6. Report findings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Reproducible experiments and a research paper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644265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A0958-CE39-4D9D-AED8-5F45088D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Outputs, feasibility and intended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50502-998C-4E6B-97E4-6695F1BB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3BCAC-4C52-4A58-A5A2-D04772CC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25C77-77D4-400D-BF4B-8B0F6D0A3373}"/>
              </a:ext>
            </a:extLst>
          </p:cNvPr>
          <p:cNvGraphicFramePr/>
          <p:nvPr/>
        </p:nvGraphicFramePr>
        <p:xfrm>
          <a:off xmlns:a="http://schemas.openxmlformats.org/drawingml/2006/main" x="904875" y="1647825"/>
          <a:ext xmlns:a="http://schemas.openxmlformats.org/drawingml/2006/main" cx="76200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435178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output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output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 TPA/PET dataset and retained provenance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Broader industrial-condition activity dataset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Verified frozen ESM-2 vectors and ML feature matrices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Robust condition-aware fitness oracle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Controlled experiments and diagnostic reports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Validated candidate and mutation ranking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Recommendation and prediction prototype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and experimental validation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06971-171D-4CA8-A472-35420207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Open-source tools and reused embeddings support feasibility. Environmental benefit requires experimental and deployment evidence.</a:t>
            </a:r>
          </a:p>
        </p:txBody>
      </p:sp>
    </p:spTree>
    <p:extLst>
      <p:ext uri="{BB962C8B-B14F-4D97-AF65-F5344CB8AC3E}">
        <p14:creationId xmlns:p14="http://schemas.microsoft.com/office/powerpoint/2010/main" val="709519968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684B1-DFEB-4710-A073-B863AB05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61AD1-31F8-4011-91E0-6A2EFF5B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166DA-402E-4C87-841F-712991A9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B7379-F0C2-4F99-B28D-51FEF9DB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5F797-2F5B-4A00-8F9D-B91BE44D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EnzAIme establishes a provenance-aware framework for condition-aware enzyme research.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112BF-14D9-4E5A-833C-0588205C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6D31F-8B6C-4A2D-B7C7-A3D2D94C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current work provides confirmed PET/TPA labels, frozen ESM-2 features and protein-grouped evaluation.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AFC9C-D85E-455B-95D0-C48B1461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93CE2-9DF3-47FB-9277-696FED27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718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ablation shows environmental ranking signal alongside substantial prediction and generalization limits.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6934D-0042-4D74-ABFC-1F34AB4B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732A4-518C-46E2-838C-391CFFD6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96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Further data, model refinement and experimental validation are necessary before industrial use.</a:t>
            </a:r>
          </a:p>
        </p:txBody>
      </p:sp>
    </p:spTree>
    <p:extLst>
      <p:ext uri="{BB962C8B-B14F-4D97-AF65-F5344CB8AC3E}">
        <p14:creationId xmlns:p14="http://schemas.microsoft.com/office/powerpoint/2010/main" val="825533193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6C9B0-6543-41DC-ADC3-44C9AED6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References and research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51D0F-7C64-4339-B623-DEFA274C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7DAFE-4F44-4C53-A540-9D6C46B0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193C2-F5EA-4A86-93E5-562EB9E9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192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Tran &amp; Hy (2025). Protein Design by Directed Evolution Guided by Large Language Models. IEEE TEVC. DOI: 10.1109/TEVC.2024.3439690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7C06C-2325-4F34-A456-3C49E0D3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62200"/>
            <a:ext cx="752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Hong et al. (2025). Protein Structure Prediction Using a New Optimization-Based Evolutionary and Explainable Artificial Intelligence Approach. IEEE TEVC. IEEE document 10443319.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9AEFE-286D-433C-93DA-2FCBA31F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67100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Lin et al. (2023). Evolutionary-scale prediction of atomic-level protein structure with a language model. Science. DOI: 10.1126/science.ade2574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E375B-D5AB-46EE-BE32-E2786F12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752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Rives et al. (2021). Biological structure and function emerge from scaling unsupervised learning to 250 million protein sequences. PNAS. DOI: 10.1073/pnas.2016239118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DB538-5AED-4E33-86C0-084B26DD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524500"/>
            <a:ext cx="7524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Project evidence: confirmed dataset, controlled ablation, diagnostic reports and served-model audit. Exact paths appear in slide notes.</a:t>
            </a:r>
          </a:p>
        </p:txBody>
      </p:sp>
    </p:spTree>
    <p:extLst>
      <p:ext uri="{BB962C8B-B14F-4D97-AF65-F5344CB8AC3E}">
        <p14:creationId xmlns:p14="http://schemas.microsoft.com/office/powerpoint/2010/main" val="1190342842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47803-2873-4508-A56B-D7FC138E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1CF42-EB4F-4954-B180-2A937BDE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7C324-AF64-4956-832C-C07322DD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47FAB-81F0-42C3-824B-03DA5333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7200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F0565-704C-4FA9-AED8-DC3C6862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90975"/>
            <a:ext cx="7200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EnzAIme</a:t>
            </a:r>
          </a:p>
          <a:p xmlns:a="http://schemas.openxmlformats.org/drawingml/2006/main">
            <a: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Environment-aware enzyme research</a:t>
            </a:r>
          </a:p>
        </p:txBody>
      </p:sp>
    </p:spTree>
    <p:extLst>
      <p:ext uri="{BB962C8B-B14F-4D97-AF65-F5344CB8AC3E}">
        <p14:creationId xmlns:p14="http://schemas.microsoft.com/office/powerpoint/2010/main" val="718645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2026-10-01T06:26:41.7960000Z</dcterms:created>
  <dcterms:modified xsi:type="dcterms:W3CDTF">2026-10-01T06:26:41.7960000Z</dcterms:modified>
</coreProperties>
</file>